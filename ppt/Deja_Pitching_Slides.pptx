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2"/>
  </p:sldMasterIdLst>
  <p:notesMasterIdLst>
    <p:notesMasterId r:id="rId16"/>
  </p:notesMasterIdLst>
  <p:sldIdLst>
    <p:sldId id="256" r:id="rId3"/>
    <p:sldId id="326" r:id="rId4"/>
    <p:sldId id="335" r:id="rId5"/>
    <p:sldId id="328" r:id="rId6"/>
    <p:sldId id="327" r:id="rId7"/>
    <p:sldId id="329" r:id="rId8"/>
    <p:sldId id="330" r:id="rId9"/>
    <p:sldId id="331" r:id="rId10"/>
    <p:sldId id="332" r:id="rId11"/>
    <p:sldId id="333" r:id="rId12"/>
    <p:sldId id="334" r:id="rId13"/>
    <p:sldId id="336" r:id="rId14"/>
    <p:sldId id="337" r:id="rId15"/>
  </p:sldIdLst>
  <p:sldSz cx="9144000" cy="5143500" type="screen16x9"/>
  <p:notesSz cx="7010400" cy="92964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EA7D3A"/>
    <a:srgbClr val="FF0066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108" d="100"/>
          <a:sy n="108" d="100"/>
        </p:scale>
        <p:origin x="686" y="101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2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7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79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8871-D84F-B24E-20CB-7747B393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2F53C-DB13-D1AA-121A-738896743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4732B-8C7D-E19E-3AB8-67BAF4ED3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1F13-BDAF-56E7-0781-8A3A5807C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26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E7EF-ADB6-29DD-0FC4-4899FB6E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09A2E-D2CD-B1FD-7C51-C85C36B33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67886-63CD-F3B0-E02C-9262530BF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FBC65-0D02-8A27-5371-7623C4F5B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25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AED6-DDD8-0BF0-BF27-3ABF646D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A488B-53FE-FD62-9D4B-2B29D2FEC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7E83F-29B3-A66D-F927-4075EDF84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B3B99-B9F9-3DBE-F766-77880311A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96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45F6-C276-3F34-1A6E-85867934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B394E-E7C7-0E2B-6A2D-902D3C747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40D8B-A558-F5B4-C8A3-3FAE834B4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FC5F8-3A64-5914-AF74-A972BD609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4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07D9-FCE3-E3B2-D88C-CED1F663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D3A50-8FED-19F2-32EE-E8C04B3C0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CD97B-AC51-C1B9-3917-10488026F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5DB91-EE31-2BE6-C933-05F3551A6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21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A1A5A-7B6F-AD65-535F-35128642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41A73-45B5-3C0E-993A-02DFE0918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F79DF-7A1F-FC8C-4182-CB244FB22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936EF-0696-FDE2-F7F7-6BA159E56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92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D7E4-81F3-BCD0-7794-215BEC03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457E4-F205-FF3D-7555-3356B742E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B0C0B-1F1B-DA64-D6F0-D8DBEA7EC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BD482-18D9-5D54-2C86-B57AE9FC9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31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886C-D954-4197-4D5A-F6EFC528B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5C4F8-C626-4815-574D-4285C56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19C57-6344-EDB0-1413-B9DF231F5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4CD27-97B2-E540-275D-61562B4A4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29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8966-23D3-289B-B3E7-3D7EDB752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F36D6-19AD-20D5-FB15-2FAB65BB8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17044-8FE4-510C-1599-6E58ADDCF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B193E-ECA3-5277-D965-3A44BD439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1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74F8-47E3-0AD5-B2B7-CF102A53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59EDF-2D6B-CD7E-810B-FD9CC2A47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18B6F-1D6A-760E-C6E3-55E4F461C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971A0-DACB-39E6-7AE8-D24D1057B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7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83AD-30C8-F084-48AB-3F97EA8E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EF14A-9562-D34A-029A-87AFA9DE5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D1562-D3E7-A1B6-6569-5B052E19B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7199E-9EC5-C6E9-AA29-30D17871B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8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3028950"/>
            <a:ext cx="6477000" cy="13716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705600" cy="51435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4EC7E01F-DC75-4521-90AE-3546F579C646}" type="datetime8">
              <a:rPr lang="en-US" smtClean="0"/>
              <a:pPr algn="ctr"/>
              <a:t>6/30/2026 9:54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71450"/>
            <a:ext cx="81534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A10E-1222-4D2B-AD1C-A7628460CA79}" type="datetime8">
              <a:rPr lang="en-US" smtClean="0"/>
              <a:pPr/>
              <a:t>6/30/2026 9:54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00150"/>
            <a:ext cx="8153400" cy="337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D609A-CFD9-4FBF-888C-B7E6C05CA85D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192175"/>
            <a:ext cx="3886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192175"/>
            <a:ext cx="3886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2797290-3E5F-4041-97AC-2AA7B70FABAC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4787"/>
            <a:ext cx="8153400" cy="6524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1828800"/>
            <a:ext cx="3886200" cy="2686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1828800"/>
            <a:ext cx="3886200" cy="2686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70BF8B1-6C76-441D-83FB-42A95DE4B6D2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314450"/>
            <a:ext cx="3886200" cy="48006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314450"/>
            <a:ext cx="3886200" cy="48006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50DA-AF81-41C3-9358-7B8B12921A43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2EF5-003E-45BA-908B-ADDCC373B72A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4787"/>
            <a:ext cx="8077200" cy="652463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E2D7-19E0-43DF-9B49-8BC9D15D144A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314450"/>
            <a:ext cx="1600200" cy="325755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314450"/>
            <a:ext cx="6400800" cy="331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98664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486150"/>
            <a:ext cx="7315200" cy="51435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C392C5A6-78FF-4180-81D1-56A1158A2CA1}" type="datetime8">
              <a:rPr lang="en-US" smtClean="0"/>
              <a:pPr/>
              <a:t>6/30/2026 9:54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3426714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DAC3-8510-4A81-B5EA-EADCAA67075E}" type="datetime8">
              <a:rPr lang="en-US" smtClean="0">
                <a:solidFill>
                  <a:schemeClr val="tx2"/>
                </a:solidFill>
              </a:rPr>
              <a:pPr/>
              <a:t>6/30/2026 9:54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457201"/>
            <a:ext cx="2057400" cy="4137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5562600" cy="41374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4686302"/>
            <a:ext cx="2209800" cy="273844"/>
          </a:xfrm>
        </p:spPr>
        <p:txBody>
          <a:bodyPr/>
          <a:lstStyle/>
          <a:p>
            <a:fld id="{CB6F3AA5-0D1A-4836-B9A9-3DFF578591BB}" type="datetime8">
              <a:rPr lang="en-US" smtClean="0">
                <a:solidFill>
                  <a:schemeClr val="tx2"/>
                </a:solidFill>
              </a:rPr>
              <a:pPr/>
              <a:t>6/30/2026 9:54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2" y="4686156"/>
            <a:ext cx="557348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457200"/>
            <a:ext cx="228600" cy="46863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4000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6056313" y="77787"/>
            <a:ext cx="400050" cy="244476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71450"/>
            <a:ext cx="8153400" cy="74295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200150"/>
            <a:ext cx="8153400" cy="33947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fld id="{DC8FB424-1CF3-421F-8939-BDA40A9268F3}" type="datetime8">
              <a:rPr lang="en-US" smtClean="0">
                <a:solidFill>
                  <a:schemeClr val="tx2"/>
                </a:solidFill>
              </a:rPr>
              <a:pPr/>
              <a:t>6/30/2026 9:54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92583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6012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95416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101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extBox"/>
          <p:cNvSpPr txBox="1">
            <a:spLocks noGrp="1"/>
          </p:cNvSpPr>
          <p:nvPr/>
        </p:nvSpPr>
        <p:spPr>
          <a:xfrm>
            <a:off x="457200" y="731520"/>
            <a:ext cx="5029200" cy="1097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6000" dirty="0" b="1">
                <a:solidFill>
                  <a:srgbClr val="FFFFFF"/>
                </a:solidFill>
                <a:latin typeface="Cambria" pitchFamily="2" charset="0"/>
              </a:rPr>
              <a:t>Déjà</a:t>
            </a:r>
            <a:endParaRPr lang="en-US" dirty="0"/>
          </a:p>
        </p:txBody>
      </p:sp>
      <p:sp>
        <p:nvSpPr>
          <p:cNvPr id="105" name="TextBox"/>
          <p:cNvSpPr txBox="1">
            <a:spLocks noGrp="1"/>
          </p:cNvSpPr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800" dirty="0">
                <a:solidFill>
                  <a:srgbClr val="CADCFC"/>
                </a:solidFill>
                <a:latin typeface="Calibri" pitchFamily="2" charset="0"/>
              </a:rPr>
              <a:t>Cognee-Powered Personal Memory Recovery Engine</a:t>
            </a:r>
            <a:endParaRPr lang="en-US" dirty="0"/>
          </a:p>
        </p:txBody>
      </p:sp>
      <p:sp>
        <p:nvSpPr>
          <p:cNvPr id="106" name="TextBox"/>
          <p:cNvSpPr txBox="1">
            <a:spLocks noGrp="1"/>
          </p:cNvSpPr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>
                <a:solidFill>
                  <a:srgbClr val="FFC000"/>
                </a:solidFill>
                <a:latin typeface="Calibri" pitchFamily="2" charset="0"/>
              </a:rPr>
              <a:t>Build your external brain. Query your past. Recover the forgotten.</a:t>
            </a:r>
            <a:endParaRPr lang="en-US" dirty="0"/>
          </a:p>
        </p:txBody>
      </p:sp>
      <p:sp>
        <p:nvSpPr>
          <p:cNvPr id="107" name="Rect"/>
          <p:cNvSpPr/>
          <p:nvPr/>
        </p:nvSpPr>
        <p:spPr>
          <a:xfrm>
            <a:off x="457200" y="3108960"/>
            <a:ext cx="5029200" cy="118872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TextBox"/>
          <p:cNvSpPr txBox="1">
            <a:spLocks noGrp="1"/>
          </p:cNvSpPr>
          <p:nvPr/>
        </p:nvSpPr>
        <p:spPr>
          <a:xfrm>
            <a:off x="594360" y="3218688"/>
            <a:ext cx="47548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 b="1">
                <a:solidFill>
                  <a:srgbClr val="FFFFFF"/>
                </a:solidFill>
                <a:latin typeface="Calibri" pitchFamily="2" charset="0"/>
              </a:rPr>
              <a:t>CMR THINKFEST 3.0  •  01st August 2026</a:t>
            </a:r>
            <a:endParaRPr lang="en-US" dirty="0"/>
          </a:p>
          <a:p>
            <a:pPr/>
            <a:r>
              <a:rPr lang="en-US" sz="1100" dirty="0">
                <a:solidFill>
                  <a:srgbClr val="CADCFC"/>
                </a:solidFill>
                <a:latin typeface="Calibri" pitchFamily="2" charset="0"/>
              </a:rPr>
              <a:t>CMR College of Engineering &amp; Technology, Hyderabad</a:t>
            </a:r>
            <a:endParaRPr lang="en-US" dirty="0"/>
          </a:p>
        </p:txBody>
      </p:sp>
      <p:sp>
        <p:nvSpPr>
          <p:cNvPr id="109" name="TextBox"/>
          <p:cNvSpPr txBox="1">
            <a:spLocks noGrp="1"/>
          </p:cNvSpPr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00" dirty="0">
                <a:solidFill>
                  <a:srgbClr val="FFC000"/>
                </a:solidFill>
                <a:latin typeface="Calibri" pitchFamily="2" charset="0"/>
              </a:rPr>
              <a:t>SDG 3: Good Health &amp; Well-Being  |  SDG 9: Industry, Innovation &amp; Infrastructure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111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PROBLEM STATEMENT</a:t>
            </a:r>
            <a:endParaRPr lang="en-US" dirty="0"/>
          </a:p>
        </p:txBody>
      </p:sp>
      <p:sp>
        <p:nvSpPr>
          <p:cNvPr id="115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The crisis of cognitive overload in modern life</a:t>
            </a:r>
            <a:endParaRPr lang="en-US" dirty="0"/>
          </a:p>
        </p:txBody>
      </p:sp>
      <p:sp>
        <p:nvSpPr>
          <p:cNvPr id="117" name="Rect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TextBox"/>
          <p:cNvSpPr txBox="1">
            <a:spLocks noGrp="1"/>
          </p:cNvSpPr>
          <p:nvPr/>
        </p:nvSpPr>
        <p:spPr>
          <a:xfrm>
            <a:off x="594360" y="1298448"/>
            <a:ext cx="7955280" cy="4572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400" dirty="0">
                <a:solidFill>
                  <a:srgbClr val="002060"/>
                </a:solidFill>
                <a:latin typeface="Cambria" pitchFamily="2" charset="0"/>
              </a:rPr>
              <a:t>"Humans forget ~70% of new information within 24 hours — and there is no search engine for your own mind."</a:t>
            </a:r>
            <a:endParaRPr lang="en-US" dirty="0"/>
          </a:p>
        </p:txBody>
      </p:sp>
      <p:sp>
        <p:nvSpPr>
          <p:cNvPr id="119" name="Rect"/>
          <p:cNvSpPr/>
          <p:nvPr/>
        </p:nvSpPr>
        <p:spPr>
          <a:xfrm>
            <a:off x="457200" y="1874519"/>
            <a:ext cx="365760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20" name="Rect"/>
          <p:cNvSpPr/>
          <p:nvPr/>
        </p:nvSpPr>
        <p:spPr>
          <a:xfrm>
            <a:off x="457200" y="1874519"/>
            <a:ext cx="365760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TextBox"/>
          <p:cNvSpPr txBox="1">
            <a:spLocks noGrp="1"/>
          </p:cNvSpPr>
          <p:nvPr/>
        </p:nvSpPr>
        <p:spPr>
          <a:xfrm>
            <a:off x="566928" y="1911095"/>
            <a:ext cx="343814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THE PROBLEM</a:t>
            </a:r>
            <a:endParaRPr lang="en-US" dirty="0"/>
          </a:p>
        </p:txBody>
      </p:sp>
      <p:sp>
        <p:nvSpPr>
          <p:cNvPr id="122" name="TextBox"/>
          <p:cNvSpPr txBox="1">
            <a:spLocks noGrp="1"/>
          </p:cNvSpPr>
          <p:nvPr/>
        </p:nvSpPr>
        <p:spPr>
          <a:xfrm>
            <a:off x="566928" y="2276855"/>
            <a:ext cx="3438144" cy="17922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No personal semantic memory layer for individuals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Journals and notes lack intelligent cross-referencing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Forgotten habits, contradictions &amp; patterns stay invisible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Existing AI tools have no personalized longitudinal context</a:t>
            </a:r>
            <a:endParaRPr lang="en-US" dirty="0"/>
          </a:p>
        </p:txBody>
      </p:sp>
      <p:sp>
        <p:nvSpPr>
          <p:cNvPr id="123" name="Rect"/>
          <p:cNvSpPr/>
          <p:nvPr/>
        </p:nvSpPr>
        <p:spPr>
          <a:xfrm>
            <a:off x="4297680" y="1874519"/>
            <a:ext cx="365760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24" name="Rect"/>
          <p:cNvSpPr/>
          <p:nvPr/>
        </p:nvSpPr>
        <p:spPr>
          <a:xfrm>
            <a:off x="4297680" y="1874519"/>
            <a:ext cx="3657600" cy="347472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TextBox"/>
          <p:cNvSpPr txBox="1">
            <a:spLocks noGrp="1"/>
          </p:cNvSpPr>
          <p:nvPr/>
        </p:nvSpPr>
        <p:spPr>
          <a:xfrm>
            <a:off x="4407408" y="1911095"/>
            <a:ext cx="343814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OUR SOLUTION — DÉJÀ</a:t>
            </a:r>
            <a:endParaRPr lang="en-US" dirty="0"/>
          </a:p>
        </p:txBody>
      </p:sp>
      <p:sp>
        <p:nvSpPr>
          <p:cNvPr id="126" name="TextBox"/>
          <p:cNvSpPr txBox="1">
            <a:spLocks noGrp="1"/>
          </p:cNvSpPr>
          <p:nvPr/>
        </p:nvSpPr>
        <p:spPr>
          <a:xfrm>
            <a:off x="4407408" y="2276855"/>
            <a:ext cx="3438144" cy="17922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Semantic knowledge graph built from your own journal entries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Natural-language Q&amp;A over your entire personal history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Automated contradiction &amp; gap detection (Blindspots)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Dual local + cloud architecture — private &amp; scalable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128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1. CUSTOMER SEGMENTS</a:t>
            </a:r>
            <a:endParaRPr lang="en-US" dirty="0"/>
          </a:p>
        </p:txBody>
      </p:sp>
      <p:sp>
        <p:nvSpPr>
          <p:cNvPr id="132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Who are we creating value for?</a:t>
            </a:r>
            <a:endParaRPr lang="en-US" dirty="0"/>
          </a:p>
        </p:txBody>
      </p:sp>
      <p:sp>
        <p:nvSpPr>
          <p:cNvPr id="134" name="Rect"/>
          <p:cNvSpPr/>
          <p:nvPr/>
        </p:nvSpPr>
        <p:spPr>
          <a:xfrm>
            <a:off x="653796" y="1280160"/>
            <a:ext cx="251460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35" name="Rect"/>
          <p:cNvSpPr/>
          <p:nvPr/>
        </p:nvSpPr>
        <p:spPr>
          <a:xfrm>
            <a:off x="653796" y="1280160"/>
            <a:ext cx="25146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TextBox"/>
          <p:cNvSpPr txBox="1">
            <a:spLocks noGrp="1"/>
          </p:cNvSpPr>
          <p:nvPr/>
        </p:nvSpPr>
        <p:spPr>
          <a:xfrm>
            <a:off x="763524" y="1316736"/>
            <a:ext cx="229514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Students &amp; Job Seekers</a:t>
            </a:r>
            <a:endParaRPr lang="en-US" dirty="0"/>
          </a:p>
        </p:txBody>
      </p:sp>
      <p:sp>
        <p:nvSpPr>
          <p:cNvPr id="137" name="TextBox"/>
          <p:cNvSpPr txBox="1">
            <a:spLocks noGrp="1"/>
          </p:cNvSpPr>
          <p:nvPr/>
        </p:nvSpPr>
        <p:spPr>
          <a:xfrm>
            <a:off x="763524" y="1682496"/>
            <a:ext cx="2295144" cy="2249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Track study habits, mood-performance links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Recall preparation timelines for exams/interviews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Identify study pattern gaps before deadlines</a:t>
            </a:r>
            <a:endParaRPr lang="en-US" dirty="0"/>
          </a:p>
        </p:txBody>
      </p:sp>
      <p:sp>
        <p:nvSpPr>
          <p:cNvPr id="138" name="Rect"/>
          <p:cNvSpPr/>
          <p:nvPr/>
        </p:nvSpPr>
        <p:spPr>
          <a:xfrm>
            <a:off x="3314700" y="1280160"/>
            <a:ext cx="251460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39" name="Rect"/>
          <p:cNvSpPr/>
          <p:nvPr/>
        </p:nvSpPr>
        <p:spPr>
          <a:xfrm>
            <a:off x="3314700" y="1280160"/>
            <a:ext cx="2514600" cy="347472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extBox"/>
          <p:cNvSpPr txBox="1">
            <a:spLocks noGrp="1"/>
          </p:cNvSpPr>
          <p:nvPr/>
        </p:nvSpPr>
        <p:spPr>
          <a:xfrm>
            <a:off x="3424428" y="1316736"/>
            <a:ext cx="229514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Knowledge Workers &amp; Researchers</a:t>
            </a:r>
            <a:endParaRPr lang="en-US" dirty="0"/>
          </a:p>
        </p:txBody>
      </p:sp>
      <p:sp>
        <p:nvSpPr>
          <p:cNvPr id="141" name="TextBox"/>
          <p:cNvSpPr txBox="1">
            <a:spLocks noGrp="1"/>
          </p:cNvSpPr>
          <p:nvPr/>
        </p:nvSpPr>
        <p:spPr>
          <a:xfrm>
            <a:off x="3424428" y="1682496"/>
            <a:ext cx="2295144" cy="2249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Journal-based project memory for long-term work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Semantic retrieval across months of notes &amp; ideas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Contradiction detection in research hypotheses</a:t>
            </a:r>
            <a:endParaRPr lang="en-US" dirty="0"/>
          </a:p>
        </p:txBody>
      </p:sp>
      <p:sp>
        <p:nvSpPr>
          <p:cNvPr id="142" name="Rect"/>
          <p:cNvSpPr/>
          <p:nvPr/>
        </p:nvSpPr>
        <p:spPr>
          <a:xfrm>
            <a:off x="5975604" y="1280160"/>
            <a:ext cx="251460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43" name="Rect"/>
          <p:cNvSpPr/>
          <p:nvPr/>
        </p:nvSpPr>
        <p:spPr>
          <a:xfrm>
            <a:off x="5975604" y="1280160"/>
            <a:ext cx="251460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TextBox"/>
          <p:cNvSpPr txBox="1">
            <a:spLocks noGrp="1"/>
          </p:cNvSpPr>
          <p:nvPr/>
        </p:nvSpPr>
        <p:spPr>
          <a:xfrm>
            <a:off x="6085332" y="1316736"/>
            <a:ext cx="229514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Mental Wellness &amp; Self-Improvement</a:t>
            </a:r>
            <a:endParaRPr lang="en-US" dirty="0"/>
          </a:p>
        </p:txBody>
      </p:sp>
      <p:sp>
        <p:nvSpPr>
          <p:cNvPr id="145" name="TextBox"/>
          <p:cNvSpPr txBox="1">
            <a:spLocks noGrp="1"/>
          </p:cNvSpPr>
          <p:nvPr/>
        </p:nvSpPr>
        <p:spPr>
          <a:xfrm>
            <a:off x="6085332" y="1682496"/>
            <a:ext cx="2295144" cy="2249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Habit tracking with intelligent pattern analysis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Reflect on behavioural trends over months &amp; years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Privacy-first local or cloud graph storage</a:t>
            </a:r>
            <a:endParaRPr lang="en-US" dirty="0"/>
          </a:p>
        </p:txBody>
      </p:sp>
      <p:sp>
        <p:nvSpPr>
          <p:cNvPr id="146" name="TextBox"/>
          <p:cNvSpPr txBox="1">
            <a:spLocks noGrp="1"/>
          </p:cNvSpPr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Primary Market: Tech-savvy individuals aged 18-35 who journal digitally and value AI-augmented self-awareness.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0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148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2. UNIQUE VALUE PROPOSITION (UVP)</a:t>
            </a:r>
            <a:endParaRPr lang="en-US" dirty="0"/>
          </a:p>
        </p:txBody>
      </p:sp>
      <p:sp>
        <p:nvSpPr>
          <p:cNvPr id="152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Why Déjà stands out as the ultimate cognitive companion</a:t>
            </a:r>
            <a:endParaRPr lang="en-US" dirty="0"/>
          </a:p>
        </p:txBody>
      </p:sp>
      <p:sp>
        <p:nvSpPr>
          <p:cNvPr id="154" name="Rect"/>
          <p:cNvSpPr/>
          <p:nvPr/>
        </p:nvSpPr>
        <p:spPr>
          <a:xfrm>
            <a:off x="786384" y="1389888"/>
            <a:ext cx="17830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55" name="Rect"/>
          <p:cNvSpPr/>
          <p:nvPr/>
        </p:nvSpPr>
        <p:spPr>
          <a:xfrm>
            <a:off x="786384" y="1389888"/>
            <a:ext cx="17830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TextBox"/>
          <p:cNvSpPr txBox="1">
            <a:spLocks noGrp="1"/>
          </p:cNvSpPr>
          <p:nvPr/>
        </p:nvSpPr>
        <p:spPr>
          <a:xfrm>
            <a:off x="896112" y="1426464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Dynamic Hybrid Indexing</a:t>
            </a:r>
            <a:endParaRPr lang="en-US" dirty="0"/>
          </a:p>
        </p:txBody>
      </p:sp>
      <p:sp>
        <p:nvSpPr>
          <p:cNvPr id="157" name="TextBox"/>
          <p:cNvSpPr txBox="1">
            <a:spLocks noGrp="1"/>
          </p:cNvSpPr>
          <p:nvPr/>
        </p:nvSpPr>
        <p:spPr>
          <a:xfrm>
            <a:off x="896112" y="1792224"/>
            <a:ext cx="1563624" cy="24140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Bridges time-series timelines (Supabase) with semantic graph networks (Cognee).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Maintains absolute chronological accuracy while enabling deep concept relationships.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Constructs a living external brain layer of experiences.</a:t>
            </a:r>
            <a:endParaRPr lang="en-US" dirty="0"/>
          </a:p>
        </p:txBody>
      </p:sp>
      <p:sp>
        <p:nvSpPr>
          <p:cNvPr id="158" name="Rect"/>
          <p:cNvSpPr/>
          <p:nvPr/>
        </p:nvSpPr>
        <p:spPr>
          <a:xfrm>
            <a:off x="2715768" y="1389888"/>
            <a:ext cx="17830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59" name="Rect"/>
          <p:cNvSpPr/>
          <p:nvPr/>
        </p:nvSpPr>
        <p:spPr>
          <a:xfrm>
            <a:off x="2715768" y="1389888"/>
            <a:ext cx="1783080" cy="347472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TextBox"/>
          <p:cNvSpPr txBox="1">
            <a:spLocks noGrp="1"/>
          </p:cNvSpPr>
          <p:nvPr/>
        </p:nvSpPr>
        <p:spPr>
          <a:xfrm>
            <a:off x="2825496" y="1426464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Paradox &amp; Gap Detection</a:t>
            </a:r>
            <a:endParaRPr lang="en-US" dirty="0"/>
          </a:p>
        </p:txBody>
      </p:sp>
      <p:sp>
        <p:nvSpPr>
          <p:cNvPr id="161" name="TextBox"/>
          <p:cNvSpPr txBox="1">
            <a:spLocks noGrp="1"/>
          </p:cNvSpPr>
          <p:nvPr/>
        </p:nvSpPr>
        <p:spPr>
          <a:xfrm>
            <a:off x="2825496" y="1792224"/>
            <a:ext cx="1563624" cy="24140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Our proprietary Blindspots Engine compares memory graph density with timeline logs.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Automatically detects abandoned habits, routine shifts, and semantic contradictions.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Surfaces insights you forgot to remember.</a:t>
            </a:r>
            <a:endParaRPr lang="en-US" dirty="0"/>
          </a:p>
        </p:txBody>
      </p:sp>
      <p:sp>
        <p:nvSpPr>
          <p:cNvPr id="162" name="Rect"/>
          <p:cNvSpPr/>
          <p:nvPr/>
        </p:nvSpPr>
        <p:spPr>
          <a:xfrm>
            <a:off x="4645152" y="1389888"/>
            <a:ext cx="17830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63" name="Rect"/>
          <p:cNvSpPr/>
          <p:nvPr/>
        </p:nvSpPr>
        <p:spPr>
          <a:xfrm>
            <a:off x="4645152" y="1389888"/>
            <a:ext cx="17830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TextBox"/>
          <p:cNvSpPr txBox="1">
            <a:spLocks noGrp="1"/>
          </p:cNvSpPr>
          <p:nvPr/>
        </p:nvSpPr>
        <p:spPr>
          <a:xfrm>
            <a:off x="4754880" y="1426464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Memory Sanctuary</a:t>
            </a:r>
            <a:endParaRPr lang="en-US" dirty="0"/>
          </a:p>
        </p:txBody>
      </p:sp>
      <p:sp>
        <p:nvSpPr>
          <p:cNvPr id="165" name="TextBox"/>
          <p:cNvSpPr txBox="1">
            <a:spLocks noGrp="1"/>
          </p:cNvSpPr>
          <p:nvPr/>
        </p:nvSpPr>
        <p:spPr>
          <a:xfrm>
            <a:off x="4754880" y="1792224"/>
            <a:ext cx="1563624" cy="24140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Provides target node &amp; edge pruning in the vector space via cognee.forget().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True GDPR-aligned 'right to be forgotten' at a conceptual level.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Users choose what the AI retains, remembers, or permanently dissolves.</a:t>
            </a:r>
            <a:endParaRPr lang="en-US" dirty="0"/>
          </a:p>
        </p:txBody>
      </p:sp>
      <p:sp>
        <p:nvSpPr>
          <p:cNvPr id="166" name="Rect"/>
          <p:cNvSpPr/>
          <p:nvPr/>
        </p:nvSpPr>
        <p:spPr>
          <a:xfrm>
            <a:off x="6574536" y="1389888"/>
            <a:ext cx="17830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167" name="Rect"/>
          <p:cNvSpPr/>
          <p:nvPr/>
        </p:nvSpPr>
        <p:spPr>
          <a:xfrm>
            <a:off x="6574536" y="1389888"/>
            <a:ext cx="178308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TextBox"/>
          <p:cNvSpPr txBox="1">
            <a:spLocks noGrp="1"/>
          </p:cNvSpPr>
          <p:nvPr/>
        </p:nvSpPr>
        <p:spPr>
          <a:xfrm>
            <a:off x="6684264" y="1426464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10× Accelerated Recall</a:t>
            </a:r>
            <a:endParaRPr lang="en-US" dirty="0"/>
          </a:p>
        </p:txBody>
      </p:sp>
      <p:sp>
        <p:nvSpPr>
          <p:cNvPr id="169" name="TextBox"/>
          <p:cNvSpPr txBox="1">
            <a:spLocks noGrp="1"/>
          </p:cNvSpPr>
          <p:nvPr/>
        </p:nvSpPr>
        <p:spPr>
          <a:xfrm>
            <a:off x="6684264" y="1792224"/>
            <a:ext cx="1563624" cy="24140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Custom hybrid query pipeline cuts semantic retrieval latency down to ~1.5s.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Bypasses standard slow LLM graph traversals for instant response times.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Maintains dense context lookup (top_k=150) under peak load.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6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171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SYSTEM ARCHITECTURE &amp; KEY ACTIVITIES</a:t>
            </a:r>
            <a:endParaRPr lang="en-US" dirty="0"/>
          </a:p>
        </p:txBody>
      </p:sp>
      <p:sp>
        <p:nvSpPr>
          <p:cNvPr id="175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5-layer hybrid stack: React → Express → FastAPI → Cognee → SQLite/LanceDB</a:t>
            </a:r>
            <a:endParaRPr lang="en-US" dirty="0"/>
          </a:p>
        </p:txBody>
      </p:sp>
      <p:sp>
        <p:nvSpPr>
          <p:cNvPr id="177" name="Rect"/>
          <p:cNvSpPr/>
          <p:nvPr/>
        </p:nvSpPr>
        <p:spPr>
          <a:xfrm>
            <a:off x="608076" y="1371600"/>
            <a:ext cx="1417320" cy="1463040"/>
          </a:xfrm>
          <a:prstGeom prst="rect">
            <a:avLst/>
          </a:prstGeom>
          <a:solidFill>
            <a:srgbClr val="CADCFC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178" name="TextBox"/>
          <p:cNvSpPr txBox="1">
            <a:spLocks noGrp="1"/>
          </p:cNvSpPr>
          <p:nvPr/>
        </p:nvSpPr>
        <p:spPr>
          <a:xfrm>
            <a:off x="608076" y="1554480"/>
            <a:ext cx="1417320" cy="12344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002060"/>
                </a:solidFill>
                <a:latin typeface="Cambria" pitchFamily="2" charset="0"/>
              </a:rPr>
              <a:t>React + Vite
Frontend</a:t>
            </a:r>
            <a:endParaRPr lang="en-US" dirty="0"/>
          </a:p>
          <a:p>
            <a:pPr algn="ctr"/>
            <a:r>
              <a:rPr lang="en-US" sz="1000" dirty="0">
                <a:solidFill>
                  <a:srgbClr val="002060"/>
                </a:solidFill>
                <a:latin typeface="Calibri" pitchFamily="2" charset="0"/>
              </a:rPr>
              <a:t>Glassmorphism UI
Journal · Oracle · Blindspots</a:t>
            </a:r>
            <a:endParaRPr lang="en-US" dirty="0"/>
          </a:p>
        </p:txBody>
      </p:sp>
      <p:sp>
        <p:nvSpPr>
          <p:cNvPr id="179" name="Rect"/>
          <p:cNvSpPr/>
          <p:nvPr/>
        </p:nvSpPr>
        <p:spPr>
          <a:xfrm>
            <a:off x="2025396" y="2066544"/>
            <a:ext cx="21031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"/>
          <p:cNvSpPr/>
          <p:nvPr/>
        </p:nvSpPr>
        <p:spPr>
          <a:xfrm>
            <a:off x="2235708" y="1371600"/>
            <a:ext cx="1417320" cy="1463040"/>
          </a:xfrm>
          <a:prstGeom prst="rect">
            <a:avLst/>
          </a:prstGeom>
          <a:solidFill>
            <a:srgbClr val="CADCFC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181" name="TextBox"/>
          <p:cNvSpPr txBox="1">
            <a:spLocks noGrp="1"/>
          </p:cNvSpPr>
          <p:nvPr/>
        </p:nvSpPr>
        <p:spPr>
          <a:xfrm>
            <a:off x="2235708" y="1554480"/>
            <a:ext cx="1417320" cy="12344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002060"/>
                </a:solidFill>
                <a:latin typeface="Cambria" pitchFamily="2" charset="0"/>
              </a:rPr>
              <a:t>Node.js Express
Gateway :5051</a:t>
            </a:r>
            <a:endParaRPr lang="en-US" dirty="0"/>
          </a:p>
          <a:p>
            <a:pPr algn="ctr"/>
            <a:r>
              <a:rPr lang="en-US" sz="1000" dirty="0">
                <a:solidFill>
                  <a:srgbClr val="002060"/>
                </a:solidFill>
                <a:latin typeface="Calibri" pitchFamily="2" charset="0"/>
              </a:rPr>
              <a:t>API routing · Auth
Multi-tenancy · Supabase</a:t>
            </a:r>
            <a:endParaRPr lang="en-US" dirty="0"/>
          </a:p>
        </p:txBody>
      </p:sp>
      <p:sp>
        <p:nvSpPr>
          <p:cNvPr id="182" name="Rect"/>
          <p:cNvSpPr/>
          <p:nvPr/>
        </p:nvSpPr>
        <p:spPr>
          <a:xfrm>
            <a:off x="3653028" y="2066544"/>
            <a:ext cx="21031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"/>
          <p:cNvSpPr/>
          <p:nvPr/>
        </p:nvSpPr>
        <p:spPr>
          <a:xfrm>
            <a:off x="3863340" y="1371600"/>
            <a:ext cx="1417320" cy="1463040"/>
          </a:xfrm>
          <a:prstGeom prst="rect">
            <a:avLst/>
          </a:prstGeom>
          <a:solidFill>
            <a:srgbClr val="FFC000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184" name="TextBox"/>
          <p:cNvSpPr txBox="1">
            <a:spLocks noGrp="1"/>
          </p:cNvSpPr>
          <p:nvPr/>
        </p:nvSpPr>
        <p:spPr>
          <a:xfrm>
            <a:off x="3863340" y="1554480"/>
            <a:ext cx="1417320" cy="12344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002060"/>
                </a:solidFill>
                <a:latin typeface="Cambria" pitchFamily="2" charset="0"/>
              </a:rPr>
              <a:t>Python FastAPI
Bridge :8000</a:t>
            </a:r>
            <a:endParaRPr lang="en-US" dirty="0"/>
          </a:p>
          <a:p>
            <a:pPr algn="ctr"/>
            <a:r>
              <a:rPr lang="en-US" sz="1000" dirty="0">
                <a:solidFill>
                  <a:srgbClr val="002060"/>
                </a:solidFill>
                <a:latin typeface="Calibri" pitchFamily="2" charset="0"/>
              </a:rPr>
              <a:t>Cognee SDK
Async queue · Embedding</a:t>
            </a:r>
            <a:endParaRPr lang="en-US" dirty="0"/>
          </a:p>
        </p:txBody>
      </p:sp>
      <p:sp>
        <p:nvSpPr>
          <p:cNvPr id="185" name="Rect"/>
          <p:cNvSpPr/>
          <p:nvPr/>
        </p:nvSpPr>
        <p:spPr>
          <a:xfrm>
            <a:off x="5280660" y="2066544"/>
            <a:ext cx="21031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"/>
          <p:cNvSpPr/>
          <p:nvPr/>
        </p:nvSpPr>
        <p:spPr>
          <a:xfrm>
            <a:off x="5490972" y="1371600"/>
            <a:ext cx="1417320" cy="1463040"/>
          </a:xfrm>
          <a:prstGeom prst="rect">
            <a:avLst/>
          </a:prstGeom>
          <a:solidFill>
            <a:srgbClr val="1C4587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187" name="TextBox"/>
          <p:cNvSpPr txBox="1">
            <a:spLocks noGrp="1"/>
          </p:cNvSpPr>
          <p:nvPr/>
        </p:nvSpPr>
        <p:spPr>
          <a:xfrm>
            <a:off x="5490972" y="1554480"/>
            <a:ext cx="1417320" cy="12344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mbria" pitchFamily="2" charset="0"/>
              </a:rPr>
              <a:t>Cognee OS
Local Mode</a:t>
            </a:r>
            <a:endParaRPr lang="en-US" dirty="0"/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2" charset="0"/>
              </a:rPr>
              <a:t>SQLite + LanceDB
Private / offline</a:t>
            </a:r>
            <a:endParaRPr lang="en-US" dirty="0"/>
          </a:p>
        </p:txBody>
      </p:sp>
      <p:sp>
        <p:nvSpPr>
          <p:cNvPr id="188" name="Rect"/>
          <p:cNvSpPr/>
          <p:nvPr/>
        </p:nvSpPr>
        <p:spPr>
          <a:xfrm>
            <a:off x="6908292" y="2066544"/>
            <a:ext cx="21031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"/>
          <p:cNvSpPr/>
          <p:nvPr/>
        </p:nvSpPr>
        <p:spPr>
          <a:xfrm>
            <a:off x="7118604" y="1371600"/>
            <a:ext cx="1417320" cy="1463040"/>
          </a:xfrm>
          <a:prstGeom prst="rect">
            <a:avLst/>
          </a:prstGeom>
          <a:solidFill>
            <a:srgbClr val="028090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190" name="TextBox"/>
          <p:cNvSpPr txBox="1">
            <a:spLocks noGrp="1"/>
          </p:cNvSpPr>
          <p:nvPr/>
        </p:nvSpPr>
        <p:spPr>
          <a:xfrm>
            <a:off x="7118604" y="1554480"/>
            <a:ext cx="1417320" cy="12344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FFFF"/>
                </a:solidFill>
                <a:latin typeface="Cambria" pitchFamily="2" charset="0"/>
              </a:rPr>
              <a:t>Cognee Cloud
Hosted Mode</a:t>
            </a:r>
            <a:endParaRPr lang="en-US" dirty="0"/>
          </a:p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2" charset="0"/>
              </a:rPr>
              <a:t>Enterprise scale
Auth0 device flow</a:t>
            </a:r>
            <a:endParaRPr lang="en-US" dirty="0"/>
          </a:p>
        </p:txBody>
      </p:sp>
      <p:sp>
        <p:nvSpPr>
          <p:cNvPr id="191" name="TextBox"/>
          <p:cNvSpPr txBox="1">
            <a:spLocks noGrp="1"/>
          </p:cNvSpPr>
          <p:nvPr/>
        </p:nvSpPr>
        <p:spPr>
          <a:xfrm>
            <a:off x="457200" y="2724912"/>
            <a:ext cx="27432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200" dirty="0" b="1">
                <a:solidFill>
                  <a:srgbClr val="002060"/>
                </a:solidFill>
                <a:latin typeface="Calibri" pitchFamily="2" charset="0"/>
              </a:rPr>
              <a:t>Core Cognee API Calls:</a:t>
            </a:r>
            <a:endParaRPr lang="en-US" dirty="0"/>
          </a:p>
        </p:txBody>
      </p:sp>
      <p:sp>
        <p:nvSpPr>
          <p:cNvPr id="192" name="Rect"/>
          <p:cNvSpPr/>
          <p:nvPr/>
        </p:nvSpPr>
        <p:spPr>
          <a:xfrm>
            <a:off x="667512" y="3017520"/>
            <a:ext cx="1828800" cy="132588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TextBox"/>
          <p:cNvSpPr txBox="1">
            <a:spLocks noGrp="1"/>
          </p:cNvSpPr>
          <p:nvPr/>
        </p:nvSpPr>
        <p:spPr>
          <a:xfrm>
            <a:off x="667512" y="3127248"/>
            <a:ext cx="1828800" cy="1143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C000"/>
                </a:solidFill>
                <a:latin typeface="Calibri" pitchFamily="2" charset="0"/>
              </a:rPr>
              <a:t>cognee.add()</a:t>
            </a:r>
            <a:endParaRPr lang="en-US" dirty="0"/>
          </a:p>
          <a:p>
            <a:pPr algn="ctr"/>
            <a:r>
              <a:rPr lang="en-US" sz="1050" dirty="0">
                <a:solidFill>
                  <a:srgbClr val="CADCFC"/>
                </a:solidFill>
                <a:latin typeface="Calibri" pitchFamily="2" charset="0"/>
              </a:rPr>
              <a:t>Structured text
ingestion</a:t>
            </a:r>
            <a:endParaRPr lang="en-US" dirty="0"/>
          </a:p>
        </p:txBody>
      </p:sp>
      <p:sp>
        <p:nvSpPr>
          <p:cNvPr id="194" name="Rect"/>
          <p:cNvSpPr/>
          <p:nvPr/>
        </p:nvSpPr>
        <p:spPr>
          <a:xfrm>
            <a:off x="2660904" y="3017520"/>
            <a:ext cx="1828800" cy="132588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TextBox"/>
          <p:cNvSpPr txBox="1">
            <a:spLocks noGrp="1"/>
          </p:cNvSpPr>
          <p:nvPr/>
        </p:nvSpPr>
        <p:spPr>
          <a:xfrm>
            <a:off x="2660904" y="3127248"/>
            <a:ext cx="1828800" cy="1143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C000"/>
                </a:solidFill>
                <a:latin typeface="Calibri" pitchFamily="2" charset="0"/>
              </a:rPr>
              <a:t>cognee.cognify()</a:t>
            </a:r>
            <a:endParaRPr lang="en-US" dirty="0"/>
          </a:p>
          <a:p>
            <a:pPr algn="ctr"/>
            <a:r>
              <a:rPr lang="en-US" sz="1050" dirty="0">
                <a:solidFill>
                  <a:srgbClr val="CADCFC"/>
                </a:solidFill>
                <a:latin typeface="Calibri" pitchFamily="2" charset="0"/>
              </a:rPr>
              <a:t>Builds semantic
knowledge graph</a:t>
            </a:r>
            <a:endParaRPr lang="en-US" dirty="0"/>
          </a:p>
        </p:txBody>
      </p:sp>
      <p:sp>
        <p:nvSpPr>
          <p:cNvPr id="196" name="Rect"/>
          <p:cNvSpPr/>
          <p:nvPr/>
        </p:nvSpPr>
        <p:spPr>
          <a:xfrm>
            <a:off x="4654296" y="3017520"/>
            <a:ext cx="1828800" cy="132588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TextBox"/>
          <p:cNvSpPr txBox="1">
            <a:spLocks noGrp="1"/>
          </p:cNvSpPr>
          <p:nvPr/>
        </p:nvSpPr>
        <p:spPr>
          <a:xfrm>
            <a:off x="4654296" y="3127248"/>
            <a:ext cx="1828800" cy="1143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C000"/>
                </a:solidFill>
                <a:latin typeface="Calibri" pitchFamily="2" charset="0"/>
              </a:rPr>
              <a:t>cognee.recall()</a:t>
            </a:r>
            <a:endParaRPr lang="en-US" dirty="0"/>
          </a:p>
          <a:p>
            <a:pPr algn="ctr"/>
            <a:r>
              <a:rPr lang="en-US" sz="1050" dirty="0">
                <a:solidFill>
                  <a:srgbClr val="CADCFC"/>
                </a:solidFill>
                <a:latin typeface="Calibri" pitchFamily="2" charset="0"/>
              </a:rPr>
              <a:t>Semantic graph
retrieval</a:t>
            </a:r>
            <a:endParaRPr lang="en-US" dirty="0"/>
          </a:p>
        </p:txBody>
      </p:sp>
      <p:sp>
        <p:nvSpPr>
          <p:cNvPr id="198" name="Rect"/>
          <p:cNvSpPr/>
          <p:nvPr/>
        </p:nvSpPr>
        <p:spPr>
          <a:xfrm>
            <a:off x="6647688" y="3017520"/>
            <a:ext cx="1828800" cy="132588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TextBox"/>
          <p:cNvSpPr txBox="1">
            <a:spLocks noGrp="1"/>
          </p:cNvSpPr>
          <p:nvPr/>
        </p:nvSpPr>
        <p:spPr>
          <a:xfrm>
            <a:off x="6647688" y="3127248"/>
            <a:ext cx="1828800" cy="1143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200" dirty="0" b="1">
                <a:solidFill>
                  <a:srgbClr val="FFC000"/>
                </a:solidFill>
                <a:latin typeface="Calibri" pitchFamily="2" charset="0"/>
              </a:rPr>
              <a:t>cognee.forget()</a:t>
            </a:r>
            <a:endParaRPr lang="en-US" dirty="0"/>
          </a:p>
          <a:p>
            <a:pPr algn="ctr"/>
            <a:r>
              <a:rPr lang="en-US" sz="1050" dirty="0">
                <a:solidFill>
                  <a:srgbClr val="CADCFC"/>
                </a:solidFill>
                <a:latin typeface="Calibri" pitchFamily="2" charset="0"/>
              </a:rPr>
              <a:t>Memory pruning
&amp; graph wipe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7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201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4. CUSTOMER RELATIONSHIPS</a:t>
            </a:r>
            <a:endParaRPr lang="en-US" dirty="0"/>
          </a:p>
        </p:txBody>
      </p:sp>
      <p:sp>
        <p:nvSpPr>
          <p:cNvPr id="205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How Déjà establishes &amp; maintains relationships with each customer segment</a:t>
            </a:r>
            <a:endParaRPr lang="en-US" dirty="0"/>
          </a:p>
        </p:txBody>
      </p:sp>
      <p:sp>
        <p:nvSpPr>
          <p:cNvPr id="207" name="Rect"/>
          <p:cNvSpPr/>
          <p:nvPr/>
        </p:nvSpPr>
        <p:spPr>
          <a:xfrm>
            <a:off x="685800" y="1389888"/>
            <a:ext cx="24688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08" name="Rect"/>
          <p:cNvSpPr/>
          <p:nvPr/>
        </p:nvSpPr>
        <p:spPr>
          <a:xfrm>
            <a:off x="685800" y="1389888"/>
            <a:ext cx="2468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TextBox"/>
          <p:cNvSpPr txBox="1">
            <a:spLocks noGrp="1"/>
          </p:cNvSpPr>
          <p:nvPr/>
        </p:nvSpPr>
        <p:spPr>
          <a:xfrm>
            <a:off x="685800" y="1426464"/>
            <a:ext cx="2468880" cy="438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Cambria" pitchFamily="2" charset="0"/>
              </a:rPr>
              <a:t>Students &amp; Job Seekers</a:t>
            </a:r>
            <a:endParaRPr lang="en-US" dirty="0"/>
          </a:p>
        </p:txBody>
      </p:sp>
      <p:sp>
        <p:nvSpPr>
          <p:cNvPr id="210" name="TextBox"/>
          <p:cNvSpPr txBox="1">
            <a:spLocks noGrp="1"/>
          </p:cNvSpPr>
          <p:nvPr/>
        </p:nvSpPr>
        <p:spPr>
          <a:xfrm>
            <a:off x="685800" y="1938528"/>
            <a:ext cx="246888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 b="1">
                <a:solidFill>
                  <a:srgbClr val="028090"/>
                </a:solidFill>
                <a:latin typeface="Calibri" pitchFamily="2" charset="0"/>
              </a:rPr>
              <a:t>Interactive Feedback Loop</a:t>
            </a:r>
            <a:endParaRPr lang="en-US" dirty="0"/>
          </a:p>
        </p:txBody>
      </p:sp>
      <p:sp>
        <p:nvSpPr>
          <p:cNvPr id="211" name="TextBox"/>
          <p:cNvSpPr txBox="1">
            <a:spLocks noGrp="1"/>
          </p:cNvSpPr>
          <p:nvPr/>
        </p:nvSpPr>
        <p:spPr>
          <a:xfrm>
            <a:off x="795528" y="2258568"/>
            <a:ext cx="2249424" cy="19476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Expectation: Dynamic, low-friction growth &amp; habit tracking.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Establish: Real-time journal ingestion (The Slate) with immediate background processing.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Maintain: Active reinforcement. Thumbs up/down feedback on Oracle answers directly updates graph node weights in the backend, improving future Q&amp;A recall accuracy.</a:t>
            </a:r>
            <a:endParaRPr lang="en-US" dirty="0"/>
          </a:p>
        </p:txBody>
      </p:sp>
      <p:sp>
        <p:nvSpPr>
          <p:cNvPr id="212" name="Rect"/>
          <p:cNvSpPr/>
          <p:nvPr/>
        </p:nvSpPr>
        <p:spPr>
          <a:xfrm>
            <a:off x="3337560" y="1389888"/>
            <a:ext cx="24688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13" name="Rect"/>
          <p:cNvSpPr/>
          <p:nvPr/>
        </p:nvSpPr>
        <p:spPr>
          <a:xfrm>
            <a:off x="3337560" y="1389888"/>
            <a:ext cx="2468880" cy="50292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TextBox"/>
          <p:cNvSpPr txBox="1">
            <a:spLocks noGrp="1"/>
          </p:cNvSpPr>
          <p:nvPr/>
        </p:nvSpPr>
        <p:spPr>
          <a:xfrm>
            <a:off x="3337560" y="1426464"/>
            <a:ext cx="2468880" cy="438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Cambria" pitchFamily="2" charset="0"/>
              </a:rPr>
              <a:t>Knowledge Workers</a:t>
            </a:r>
            <a:endParaRPr lang="en-US" dirty="0"/>
          </a:p>
        </p:txBody>
      </p:sp>
      <p:sp>
        <p:nvSpPr>
          <p:cNvPr id="215" name="TextBox"/>
          <p:cNvSpPr txBox="1">
            <a:spLocks noGrp="1"/>
          </p:cNvSpPr>
          <p:nvPr/>
        </p:nvSpPr>
        <p:spPr>
          <a:xfrm>
            <a:off x="3337560" y="1938528"/>
            <a:ext cx="246888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 b="1">
                <a:solidFill>
                  <a:srgbClr val="1C4587"/>
                </a:solidFill>
                <a:latin typeface="Calibri" pitchFamily="2" charset="0"/>
              </a:rPr>
              <a:t>Long-Term Cognitive Extension</a:t>
            </a:r>
            <a:endParaRPr lang="en-US" dirty="0"/>
          </a:p>
        </p:txBody>
      </p:sp>
      <p:sp>
        <p:nvSpPr>
          <p:cNvPr id="216" name="TextBox"/>
          <p:cNvSpPr txBox="1">
            <a:spLocks noGrp="1"/>
          </p:cNvSpPr>
          <p:nvPr/>
        </p:nvSpPr>
        <p:spPr>
          <a:xfrm>
            <a:off x="3447288" y="2258568"/>
            <a:ext cx="2249424" cy="19476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Expectation: Secure, highly reliable, multi-year external brain.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Establish: Dense context semantic graph indexing (top_k=150 context window) mapping complex project links.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Maintain: Continuous semantic consistency. Keeps cross-referenced timeline records and graph notes synchronized over years, avoiding memory rot.</a:t>
            </a:r>
            <a:endParaRPr lang="en-US" dirty="0"/>
          </a:p>
        </p:txBody>
      </p:sp>
      <p:sp>
        <p:nvSpPr>
          <p:cNvPr id="217" name="Rect"/>
          <p:cNvSpPr/>
          <p:nvPr/>
        </p:nvSpPr>
        <p:spPr>
          <a:xfrm>
            <a:off x="5989320" y="1389888"/>
            <a:ext cx="2468880" cy="2907792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18" name="Rect"/>
          <p:cNvSpPr/>
          <p:nvPr/>
        </p:nvSpPr>
        <p:spPr>
          <a:xfrm>
            <a:off x="5989320" y="1389888"/>
            <a:ext cx="24688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TextBox"/>
          <p:cNvSpPr txBox="1">
            <a:spLocks noGrp="1"/>
          </p:cNvSpPr>
          <p:nvPr/>
        </p:nvSpPr>
        <p:spPr>
          <a:xfrm>
            <a:off x="5989320" y="1426464"/>
            <a:ext cx="2468880" cy="438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Cambria" pitchFamily="2" charset="0"/>
              </a:rPr>
              <a:t>Wellness Seekers</a:t>
            </a:r>
            <a:endParaRPr lang="en-US" dirty="0"/>
          </a:p>
        </p:txBody>
      </p:sp>
      <p:sp>
        <p:nvSpPr>
          <p:cNvPr id="220" name="TextBox"/>
          <p:cNvSpPr txBox="1">
            <a:spLocks noGrp="1"/>
          </p:cNvSpPr>
          <p:nvPr/>
        </p:nvSpPr>
        <p:spPr>
          <a:xfrm>
            <a:off x="5989320" y="1938528"/>
            <a:ext cx="246888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 b="1">
                <a:solidFill>
                  <a:srgbClr val="C00000"/>
                </a:solidFill>
                <a:latin typeface="Calibri" pitchFamily="2" charset="0"/>
              </a:rPr>
              <a:t>Private Safeguard Sanctuary</a:t>
            </a:r>
            <a:endParaRPr lang="en-US" dirty="0"/>
          </a:p>
        </p:txBody>
      </p:sp>
      <p:sp>
        <p:nvSpPr>
          <p:cNvPr id="221" name="TextBox"/>
          <p:cNvSpPr txBox="1">
            <a:spLocks noGrp="1"/>
          </p:cNvSpPr>
          <p:nvPr/>
        </p:nvSpPr>
        <p:spPr>
          <a:xfrm>
            <a:off x="6099048" y="2258568"/>
            <a:ext cx="2249424" cy="19476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Expectation: Absolute data privacy, trust, and user sovereignty.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Establish: Offline-first local mode (local SQLite &amp; LanceDB) requiring no server connection.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2" charset="0"/>
              </a:rPr>
              <a:t>Maintain: GDPR-aligned 'right to be forgotten' via target memory branch wipes using cognee.forget(). Allows complete data pruning.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1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223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5. REVENUE STREAMS</a:t>
            </a:r>
            <a:endParaRPr lang="en-US" dirty="0"/>
          </a:p>
        </p:txBody>
      </p:sp>
      <p:sp>
        <p:nvSpPr>
          <p:cNvPr id="227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Free-first consumer model funded by B2B corporate wellness licensing</a:t>
            </a:r>
            <a:endParaRPr lang="en-US" dirty="0"/>
          </a:p>
        </p:txBody>
      </p:sp>
      <p:sp>
        <p:nvSpPr>
          <p:cNvPr id="229" name="Rect"/>
          <p:cNvSpPr/>
          <p:nvPr/>
        </p:nvSpPr>
        <p:spPr>
          <a:xfrm>
            <a:off x="960120" y="1389888"/>
            <a:ext cx="3429000" cy="2084831"/>
          </a:xfrm>
          <a:prstGeom prst="rect">
            <a:avLst/>
          </a:prstGeom>
          <a:solidFill>
            <a:srgbClr val="D9D9D9"/>
          </a:solidFill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230" name="Rect"/>
          <p:cNvSpPr/>
          <p:nvPr/>
        </p:nvSpPr>
        <p:spPr>
          <a:xfrm>
            <a:off x="960120" y="1389888"/>
            <a:ext cx="3429000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TextBox"/>
          <p:cNvSpPr txBox="1">
            <a:spLocks noGrp="1"/>
          </p:cNvSpPr>
          <p:nvPr/>
        </p:nvSpPr>
        <p:spPr>
          <a:xfrm>
            <a:off x="960120" y="1435608"/>
            <a:ext cx="3429000" cy="3200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Cambria" pitchFamily="2" charset="0"/>
              </a:rPr>
              <a:t>Free Core Tier (Free Forever)</a:t>
            </a:r>
            <a:endParaRPr lang="en-US" dirty="0"/>
          </a:p>
        </p:txBody>
      </p:sp>
      <p:sp>
        <p:nvSpPr>
          <p:cNvPr id="232" name="TextBox"/>
          <p:cNvSpPr txBox="1">
            <a:spLocks noGrp="1"/>
          </p:cNvSpPr>
          <p:nvPr/>
        </p:nvSpPr>
        <p:spPr>
          <a:xfrm>
            <a:off x="960120" y="1847088"/>
            <a:ext cx="34290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 b="1">
                <a:solidFill>
                  <a:srgbClr val="028090"/>
                </a:solidFill>
                <a:latin typeface="Calibri" pitchFamily="2" charset="0"/>
              </a:rPr>
              <a:t>₹0 / month  •  Consumer Mainstream Tier</a:t>
            </a:r>
            <a:endParaRPr lang="en-US" dirty="0"/>
          </a:p>
        </p:txBody>
      </p:sp>
      <p:sp>
        <p:nvSpPr>
          <p:cNvPr id="233" name="TextBox"/>
          <p:cNvSpPr txBox="1">
            <a:spLocks noGrp="1"/>
          </p:cNvSpPr>
          <p:nvPr/>
        </p:nvSpPr>
        <p:spPr>
          <a:xfrm>
            <a:off x="1069848" y="2121408"/>
            <a:ext cx="3209544" cy="13075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Local-only graph storage (SQLite) &amp; vector embedding (LanceDB).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Zero server hosting overhead for the company (client-side execution).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Unlimited Slate journal entries &amp; manual Oracle Q&amp;A queries.</a:t>
            </a:r>
            <a:endParaRPr lang="en-US" dirty="0"/>
          </a:p>
        </p:txBody>
      </p:sp>
      <p:sp>
        <p:nvSpPr>
          <p:cNvPr id="234" name="Rect"/>
          <p:cNvSpPr/>
          <p:nvPr/>
        </p:nvSpPr>
        <p:spPr>
          <a:xfrm>
            <a:off x="4754880" y="1389888"/>
            <a:ext cx="3429000" cy="2084831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35" name="Rect"/>
          <p:cNvSpPr/>
          <p:nvPr/>
        </p:nvSpPr>
        <p:spPr>
          <a:xfrm>
            <a:off x="4754880" y="1389888"/>
            <a:ext cx="3429000" cy="41148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TextBox"/>
          <p:cNvSpPr txBox="1">
            <a:spLocks noGrp="1"/>
          </p:cNvSpPr>
          <p:nvPr/>
        </p:nvSpPr>
        <p:spPr>
          <a:xfrm>
            <a:off x="4754880" y="1435608"/>
            <a:ext cx="3429000" cy="3200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Cambria" pitchFamily="2" charset="0"/>
              </a:rPr>
              <a:t>Pro Tier (The Game Changer)</a:t>
            </a:r>
            <a:endParaRPr lang="en-US" dirty="0"/>
          </a:p>
        </p:txBody>
      </p:sp>
      <p:sp>
        <p:nvSpPr>
          <p:cNvPr id="237" name="TextBox"/>
          <p:cNvSpPr txBox="1">
            <a:spLocks noGrp="1"/>
          </p:cNvSpPr>
          <p:nvPr/>
        </p:nvSpPr>
        <p:spPr>
          <a:xfrm>
            <a:off x="4754880" y="1847088"/>
            <a:ext cx="34290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 b="1">
                <a:solidFill>
                  <a:srgbClr val="FFC000"/>
                </a:solidFill>
                <a:latin typeface="Calibri" pitchFamily="2" charset="0"/>
              </a:rPr>
              <a:t>₹149 / month ($1.99/mo)  •  Cloud Premium</a:t>
            </a:r>
            <a:endParaRPr lang="en-US" dirty="0"/>
          </a:p>
        </p:txBody>
      </p:sp>
      <p:sp>
        <p:nvSpPr>
          <p:cNvPr id="238" name="TextBox"/>
          <p:cNvSpPr txBox="1">
            <a:spLocks noGrp="1"/>
          </p:cNvSpPr>
          <p:nvPr/>
        </p:nvSpPr>
        <p:spPr>
          <a:xfrm>
            <a:off x="4864608" y="2121408"/>
            <a:ext cx="3209544" cy="13075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Seamless Multi-Device Sync &amp; secure roaming via Cognee Cloud.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Proactive continuous Blindspots analysis pushing real-time Paradox Alerts.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Advanced Oracle reasoning using premium high-scale LLM synthesis.</a:t>
            </a:r>
            <a:endParaRPr lang="en-US" dirty="0"/>
          </a:p>
        </p:txBody>
      </p:sp>
      <p:sp>
        <p:nvSpPr>
          <p:cNvPr id="239" name="Rect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FFFDF2"/>
          </a:solidFill>
          <a:ln w="9525">
            <a:solidFill>
              <a:srgbClr val="EAD4A2"/>
            </a:solidFill>
          </a:ln>
        </p:spPr>
        <p:txBody>
          <a:bodyPr/>
          <a:lstStyle/>
          <a:p/>
        </p:txBody>
      </p:sp>
      <p:sp>
        <p:nvSpPr>
          <p:cNvPr id="240" name="Rect"/>
          <p:cNvSpPr/>
          <p:nvPr/>
        </p:nvSpPr>
        <p:spPr>
          <a:xfrm>
            <a:off x="457200" y="3611880"/>
            <a:ext cx="73152" cy="8229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TextBox"/>
          <p:cNvSpPr txBox="1">
            <a:spLocks noGrp="1"/>
          </p:cNvSpPr>
          <p:nvPr/>
        </p:nvSpPr>
        <p:spPr>
          <a:xfrm>
            <a:off x="640080" y="3657600"/>
            <a:ext cx="795528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200" dirty="0" b="1">
                <a:solidFill>
                  <a:srgbClr val="002060"/>
                </a:solidFill>
                <a:latin typeface="Cambria" pitchFamily="2" charset="0"/>
              </a:rPr>
              <a:t>B2B2C Corporate Wellness Model (Primary Monetization Engine)</a:t>
            </a:r>
            <a:endParaRPr lang="en-US" dirty="0"/>
          </a:p>
        </p:txBody>
      </p:sp>
      <p:sp>
        <p:nvSpPr>
          <p:cNvPr id="242" name="TextBox"/>
          <p:cNvSpPr txBox="1">
            <a:spLocks noGrp="1"/>
          </p:cNvSpPr>
          <p:nvPr/>
        </p:nvSpPr>
        <p:spPr>
          <a:xfrm>
            <a:off x="640080" y="3931920"/>
            <a:ext cx="795528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• EAP Integrations: Employers buy sponsored bulk seats of Déjà Pro for employee mental health, habit tracking &amp; stress analysis.</a:t>
            </a:r>
            <a:endParaRPr lang="en-US" dirty="0"/>
          </a:p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• API Licensing: White-label semantic recovery API integration for wellness app partners &amp; journaling communities.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8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244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6. KEY RESOURCES</a:t>
            </a:r>
            <a:endParaRPr lang="en-US" dirty="0"/>
          </a:p>
        </p:txBody>
      </p:sp>
      <p:sp>
        <p:nvSpPr>
          <p:cNvPr id="248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Infrastructure that makes Déjà possible</a:t>
            </a:r>
            <a:endParaRPr lang="en-US" dirty="0"/>
          </a:p>
        </p:txBody>
      </p:sp>
      <p:sp>
        <p:nvSpPr>
          <p:cNvPr id="250" name="Rect"/>
          <p:cNvSpPr/>
          <p:nvPr/>
        </p:nvSpPr>
        <p:spPr>
          <a:xfrm>
            <a:off x="713232" y="1234440"/>
            <a:ext cx="2468880" cy="31089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51" name="Rect"/>
          <p:cNvSpPr/>
          <p:nvPr/>
        </p:nvSpPr>
        <p:spPr>
          <a:xfrm>
            <a:off x="713232" y="1234440"/>
            <a:ext cx="2468880" cy="347472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TextBox"/>
          <p:cNvSpPr txBox="1">
            <a:spLocks noGrp="1"/>
          </p:cNvSpPr>
          <p:nvPr/>
        </p:nvSpPr>
        <p:spPr>
          <a:xfrm>
            <a:off x="822960" y="1271016"/>
            <a:ext cx="22494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Technology Stack</a:t>
            </a:r>
            <a:endParaRPr lang="en-US" dirty="0"/>
          </a:p>
        </p:txBody>
      </p:sp>
      <p:sp>
        <p:nvSpPr>
          <p:cNvPr id="253" name="TextBox"/>
          <p:cNvSpPr txBox="1">
            <a:spLocks noGrp="1"/>
          </p:cNvSpPr>
          <p:nvPr/>
        </p:nvSpPr>
        <p:spPr>
          <a:xfrm>
            <a:off x="822960" y="1636776"/>
            <a:ext cx="2249424" cy="26151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Python FastAPI — memory bridge service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Node.js Express — API gateway &amp; auth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React + Vite — glassmorphism frontend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Cognee SDK — semantic graph engine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SQLite + LanceDB — local vector storage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Supabase — chronological DB &amp; Auth</a:t>
            </a:r>
            <a:endParaRPr lang="en-US" dirty="0"/>
          </a:p>
        </p:txBody>
      </p:sp>
      <p:sp>
        <p:nvSpPr>
          <p:cNvPr id="254" name="Rect"/>
          <p:cNvSpPr/>
          <p:nvPr/>
        </p:nvSpPr>
        <p:spPr>
          <a:xfrm>
            <a:off x="3337560" y="1234440"/>
            <a:ext cx="2468880" cy="31089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55" name="Rect"/>
          <p:cNvSpPr/>
          <p:nvPr/>
        </p:nvSpPr>
        <p:spPr>
          <a:xfrm>
            <a:off x="3337560" y="1234440"/>
            <a:ext cx="24688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TextBox"/>
          <p:cNvSpPr txBox="1">
            <a:spLocks noGrp="1"/>
          </p:cNvSpPr>
          <p:nvPr/>
        </p:nvSpPr>
        <p:spPr>
          <a:xfrm>
            <a:off x="3447288" y="1271016"/>
            <a:ext cx="22494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AI &amp; Cognee Integration</a:t>
            </a:r>
            <a:endParaRPr lang="en-US" dirty="0"/>
          </a:p>
        </p:txBody>
      </p:sp>
      <p:sp>
        <p:nvSpPr>
          <p:cNvPr id="257" name="TextBox"/>
          <p:cNvSpPr txBox="1">
            <a:spLocks noGrp="1"/>
          </p:cNvSpPr>
          <p:nvPr/>
        </p:nvSpPr>
        <p:spPr>
          <a:xfrm>
            <a:off x="3447288" y="1636776"/>
            <a:ext cx="2249424" cy="26151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Cognee Open Source (Python library)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Cognee Cloud — hosted semantic graphs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LiteLLM wrapper — multi-LLM support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Gemini Flash Lite — low-latency inference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gemini-embedding-001 — 768-dim vectors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Auth0 Device Flow — cloud provisioning</a:t>
            </a:r>
            <a:endParaRPr lang="en-US" dirty="0"/>
          </a:p>
        </p:txBody>
      </p:sp>
      <p:sp>
        <p:nvSpPr>
          <p:cNvPr id="258" name="Rect"/>
          <p:cNvSpPr/>
          <p:nvPr/>
        </p:nvSpPr>
        <p:spPr>
          <a:xfrm>
            <a:off x="5961888" y="1234440"/>
            <a:ext cx="2468880" cy="31089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59" name="Rect"/>
          <p:cNvSpPr/>
          <p:nvPr/>
        </p:nvSpPr>
        <p:spPr>
          <a:xfrm>
            <a:off x="5961888" y="1234440"/>
            <a:ext cx="24688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TextBox"/>
          <p:cNvSpPr txBox="1">
            <a:spLocks noGrp="1"/>
          </p:cNvSpPr>
          <p:nvPr/>
        </p:nvSpPr>
        <p:spPr>
          <a:xfrm>
            <a:off x="6071616" y="1271016"/>
            <a:ext cx="22494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Human &amp; IP Resources</a:t>
            </a:r>
            <a:endParaRPr lang="en-US" dirty="0"/>
          </a:p>
        </p:txBody>
      </p:sp>
      <p:sp>
        <p:nvSpPr>
          <p:cNvPr id="261" name="TextBox"/>
          <p:cNvSpPr txBox="1">
            <a:spLocks noGrp="1"/>
          </p:cNvSpPr>
          <p:nvPr/>
        </p:nvSpPr>
        <p:spPr>
          <a:xfrm>
            <a:off x="6071616" y="1636776"/>
            <a:ext cx="2249424" cy="26151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Concurrency-safe async queue (SQLite lock fix)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Custom hybrid retrieval shortcut (10× speed)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Blindspots algorithm (graph vs. timeline diff)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Supabase RLS schema (multi-tenant security)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Dockerized deployment for Hugging Face / Render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Comprehensive test suite (cognee, recall, speed)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46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263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7. KEY ACTIVITIES — COGNEE DEEP DIVE</a:t>
            </a:r>
            <a:endParaRPr lang="en-US" dirty="0"/>
          </a:p>
        </p:txBody>
      </p:sp>
      <p:sp>
        <p:nvSpPr>
          <p:cNvPr id="267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How Déjà maximises Cognee's capabilities across every feature</a:t>
            </a:r>
            <a:endParaRPr lang="en-US" dirty="0"/>
          </a:p>
        </p:txBody>
      </p:sp>
      <p:sp>
        <p:nvSpPr>
          <p:cNvPr id="269" name="Rect"/>
          <p:cNvSpPr/>
          <p:nvPr/>
        </p:nvSpPr>
        <p:spPr>
          <a:xfrm>
            <a:off x="457200" y="1234440"/>
            <a:ext cx="1783080" cy="6583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TextBox"/>
          <p:cNvSpPr txBox="1">
            <a:spLocks noGrp="1"/>
          </p:cNvSpPr>
          <p:nvPr/>
        </p:nvSpPr>
        <p:spPr>
          <a:xfrm>
            <a:off x="457200" y="1298448"/>
            <a:ext cx="1783080" cy="5852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150" dirty="0" b="1">
                <a:solidFill>
                  <a:srgbClr val="FFFFFF"/>
                </a:solidFill>
                <a:latin typeface="Calibri" pitchFamily="2" charset="0"/>
              </a:rPr>
              <a:t>Journal Ingest Pipeline</a:t>
            </a:r>
            <a:endParaRPr lang="en-US" dirty="0"/>
          </a:p>
        </p:txBody>
      </p:sp>
      <p:sp>
        <p:nvSpPr>
          <p:cNvPr id="271" name="Rect"/>
          <p:cNvSpPr/>
          <p:nvPr/>
        </p:nvSpPr>
        <p:spPr>
          <a:xfrm>
            <a:off x="2423160" y="1234440"/>
            <a:ext cx="626364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72" name="TextBox"/>
          <p:cNvSpPr txBox="1">
            <a:spLocks noGrp="1"/>
          </p:cNvSpPr>
          <p:nvPr/>
        </p:nvSpPr>
        <p:spPr>
          <a:xfrm>
            <a:off x="2514600" y="1307592"/>
            <a:ext cx="6080760" cy="585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User submits text → Node.js gateway → FastAPI bridge → cognee.add() classifies entities → cognee.cognify() builds knowledge graph → vectors stored in LanceDB</a:t>
            </a:r>
            <a:endParaRPr lang="en-US" dirty="0"/>
          </a:p>
        </p:txBody>
      </p:sp>
      <p:sp>
        <p:nvSpPr>
          <p:cNvPr id="273" name="Rect"/>
          <p:cNvSpPr/>
          <p:nvPr/>
        </p:nvSpPr>
        <p:spPr>
          <a:xfrm>
            <a:off x="457200" y="1984248"/>
            <a:ext cx="178308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TextBox"/>
          <p:cNvSpPr txBox="1">
            <a:spLocks noGrp="1"/>
          </p:cNvSpPr>
          <p:nvPr/>
        </p:nvSpPr>
        <p:spPr>
          <a:xfrm>
            <a:off x="457200" y="2048256"/>
            <a:ext cx="1783080" cy="5852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150" dirty="0" b="1">
                <a:solidFill>
                  <a:srgbClr val="FFFFFF"/>
                </a:solidFill>
                <a:latin typeface="Calibri" pitchFamily="2" charset="0"/>
              </a:rPr>
              <a:t>Oracle Query Pipeline</a:t>
            </a:r>
            <a:endParaRPr lang="en-US" dirty="0"/>
          </a:p>
        </p:txBody>
      </p:sp>
      <p:sp>
        <p:nvSpPr>
          <p:cNvPr id="275" name="Rect"/>
          <p:cNvSpPr/>
          <p:nvPr/>
        </p:nvSpPr>
        <p:spPr>
          <a:xfrm>
            <a:off x="2423160" y="1984248"/>
            <a:ext cx="626364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76" name="TextBox"/>
          <p:cNvSpPr txBox="1">
            <a:spLocks noGrp="1"/>
          </p:cNvSpPr>
          <p:nvPr/>
        </p:nvSpPr>
        <p:spPr>
          <a:xfrm>
            <a:off x="2514600" y="2057400"/>
            <a:ext cx="6080760" cy="585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User asks question → cognee.recall(top_k=150) traverses graph → raw nodes returned → local LiteLLM analyzer summarizes → response in ~1.5s (bypasses default Cognee LLM round-trip)</a:t>
            </a:r>
            <a:endParaRPr lang="en-US" dirty="0"/>
          </a:p>
        </p:txBody>
      </p:sp>
      <p:sp>
        <p:nvSpPr>
          <p:cNvPr id="277" name="Rect"/>
          <p:cNvSpPr/>
          <p:nvPr/>
        </p:nvSpPr>
        <p:spPr>
          <a:xfrm>
            <a:off x="457200" y="2734056"/>
            <a:ext cx="1783080" cy="658368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TextBox"/>
          <p:cNvSpPr txBox="1">
            <a:spLocks noGrp="1"/>
          </p:cNvSpPr>
          <p:nvPr/>
        </p:nvSpPr>
        <p:spPr>
          <a:xfrm>
            <a:off x="457200" y="2798064"/>
            <a:ext cx="1783080" cy="5852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150" dirty="0" b="1">
                <a:solidFill>
                  <a:srgbClr val="FFFFFF"/>
                </a:solidFill>
                <a:latin typeface="Calibri" pitchFamily="2" charset="0"/>
              </a:rPr>
              <a:t>Blindspots Detection</a:t>
            </a:r>
            <a:endParaRPr lang="en-US" dirty="0"/>
          </a:p>
        </p:txBody>
      </p:sp>
      <p:sp>
        <p:nvSpPr>
          <p:cNvPr id="279" name="Rect"/>
          <p:cNvSpPr/>
          <p:nvPr/>
        </p:nvSpPr>
        <p:spPr>
          <a:xfrm>
            <a:off x="2423160" y="2734056"/>
            <a:ext cx="626364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80" name="TextBox"/>
          <p:cNvSpPr txBox="1">
            <a:spLocks noGrp="1"/>
          </p:cNvSpPr>
          <p:nvPr/>
        </p:nvSpPr>
        <p:spPr>
          <a:xfrm>
            <a:off x="2514600" y="2807208"/>
            <a:ext cx="6080760" cy="585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Supabase timeline entries fetched → Cognee graph node density computed → cosine vector distance analysis → chronological gaps &amp; contradictions surfaced as 'paradox alerts'</a:t>
            </a:r>
            <a:endParaRPr lang="en-US" dirty="0"/>
          </a:p>
        </p:txBody>
      </p:sp>
      <p:sp>
        <p:nvSpPr>
          <p:cNvPr id="281" name="Rect"/>
          <p:cNvSpPr/>
          <p:nvPr/>
        </p:nvSpPr>
        <p:spPr>
          <a:xfrm>
            <a:off x="457200" y="3483864"/>
            <a:ext cx="178308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TextBox"/>
          <p:cNvSpPr txBox="1">
            <a:spLocks noGrp="1"/>
          </p:cNvSpPr>
          <p:nvPr/>
        </p:nvSpPr>
        <p:spPr>
          <a:xfrm>
            <a:off x="457200" y="3547872"/>
            <a:ext cx="1783080" cy="5852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150" dirty="0" b="1">
                <a:solidFill>
                  <a:srgbClr val="FFFFFF"/>
                </a:solidFill>
                <a:latin typeface="Calibri" pitchFamily="2" charset="0"/>
              </a:rPr>
              <a:t>Memory Safeguard</a:t>
            </a:r>
            <a:endParaRPr lang="en-US" dirty="0"/>
          </a:p>
        </p:txBody>
      </p:sp>
      <p:sp>
        <p:nvSpPr>
          <p:cNvPr id="283" name="Rect"/>
          <p:cNvSpPr/>
          <p:nvPr/>
        </p:nvSpPr>
        <p:spPr>
          <a:xfrm>
            <a:off x="2423160" y="3483864"/>
            <a:ext cx="626364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84" name="TextBox"/>
          <p:cNvSpPr txBox="1">
            <a:spLocks noGrp="1"/>
          </p:cNvSpPr>
          <p:nvPr/>
        </p:nvSpPr>
        <p:spPr>
          <a:xfrm>
            <a:off x="2514600" y="3557016"/>
            <a:ext cx="6080760" cy="585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212121"/>
                </a:solidFill>
                <a:latin typeface="Calibri" pitchFamily="2" charset="0"/>
              </a:rPr>
              <a:t>Target topic identified → cognee.forget() severs semantic edges and prunes vector space → or cognee.prune for full graph wipe → confirmation returned to UI</a:t>
            </a:r>
            <a:endParaRPr lang="en-US" dirty="0"/>
          </a:p>
        </p:txBody>
      </p:sp>
      <p:sp>
        <p:nvSpPr>
          <p:cNvPr id="285" name="TextBox"/>
          <p:cNvSpPr txBox="1">
            <a:spLocks noGrp="1"/>
          </p:cNvSpPr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 b="1">
                <a:solidFill>
                  <a:srgbClr val="1C4587"/>
                </a:solidFill>
                <a:latin typeface="Calibri" pitchFamily="2" charset="0"/>
              </a:rPr>
              <a:t>Production concurrency: Serialized async queue prevents SQLite write-lock contention during peak ingestion — ready for enterprise load.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6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287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8. KEY PARTNERS</a:t>
            </a:r>
            <a:endParaRPr lang="en-US" dirty="0"/>
          </a:p>
        </p:txBody>
      </p:sp>
      <p:sp>
        <p:nvSpPr>
          <p:cNvPr id="291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Ecosystem that powers Déjà</a:t>
            </a:r>
            <a:endParaRPr lang="en-US" dirty="0"/>
          </a:p>
        </p:txBody>
      </p:sp>
      <p:sp>
        <p:nvSpPr>
          <p:cNvPr id="293" name="Rect"/>
          <p:cNvSpPr/>
          <p:nvPr/>
        </p:nvSpPr>
        <p:spPr>
          <a:xfrm>
            <a:off x="786384" y="1234440"/>
            <a:ext cx="1783080" cy="28803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94" name="Rect"/>
          <p:cNvSpPr/>
          <p:nvPr/>
        </p:nvSpPr>
        <p:spPr>
          <a:xfrm>
            <a:off x="786384" y="1234440"/>
            <a:ext cx="17830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TextBox"/>
          <p:cNvSpPr txBox="1">
            <a:spLocks noGrp="1"/>
          </p:cNvSpPr>
          <p:nvPr/>
        </p:nvSpPr>
        <p:spPr>
          <a:xfrm>
            <a:off x="896112" y="1271016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Cognee AI</a:t>
            </a:r>
            <a:endParaRPr lang="en-US" dirty="0"/>
          </a:p>
        </p:txBody>
      </p:sp>
      <p:sp>
        <p:nvSpPr>
          <p:cNvPr id="296" name="TextBox"/>
          <p:cNvSpPr txBox="1">
            <a:spLocks noGrp="1"/>
          </p:cNvSpPr>
          <p:nvPr/>
        </p:nvSpPr>
        <p:spPr>
          <a:xfrm>
            <a:off x="896112" y="1636776"/>
            <a:ext cx="1563624" cy="2386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Primary AI memory partner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Open Source Python SDK (cognee library)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Cognee Cloud — hosted semantic graph service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Auth0 device-code flow for user provisioning</a:t>
            </a:r>
            <a:endParaRPr lang="en-US" dirty="0"/>
          </a:p>
        </p:txBody>
      </p:sp>
      <p:sp>
        <p:nvSpPr>
          <p:cNvPr id="297" name="Rect"/>
          <p:cNvSpPr/>
          <p:nvPr/>
        </p:nvSpPr>
        <p:spPr>
          <a:xfrm>
            <a:off x="2715768" y="1234440"/>
            <a:ext cx="1783080" cy="28803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298" name="Rect"/>
          <p:cNvSpPr/>
          <p:nvPr/>
        </p:nvSpPr>
        <p:spPr>
          <a:xfrm>
            <a:off x="2715768" y="1234440"/>
            <a:ext cx="1783080" cy="347472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TextBox"/>
          <p:cNvSpPr txBox="1">
            <a:spLocks noGrp="1"/>
          </p:cNvSpPr>
          <p:nvPr/>
        </p:nvSpPr>
        <p:spPr>
          <a:xfrm>
            <a:off x="2825496" y="1271016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Google / Gemini</a:t>
            </a:r>
            <a:endParaRPr lang="en-US" dirty="0"/>
          </a:p>
        </p:txBody>
      </p:sp>
      <p:sp>
        <p:nvSpPr>
          <p:cNvPr id="300" name="TextBox"/>
          <p:cNvSpPr txBox="1">
            <a:spLocks noGrp="1"/>
          </p:cNvSpPr>
          <p:nvPr/>
        </p:nvSpPr>
        <p:spPr>
          <a:xfrm>
            <a:off x="2825496" y="1636776"/>
            <a:ext cx="1563624" cy="2386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LLM: gemini/gemini-3.1-flash-lite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Embedding: gemini-embedding-001 (768-dim)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Low-latency inference for Oracle responses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Via LiteLLM multi-provider wrapper</a:t>
            </a:r>
            <a:endParaRPr lang="en-US" dirty="0"/>
          </a:p>
        </p:txBody>
      </p:sp>
      <p:sp>
        <p:nvSpPr>
          <p:cNvPr id="301" name="Rect"/>
          <p:cNvSpPr/>
          <p:nvPr/>
        </p:nvSpPr>
        <p:spPr>
          <a:xfrm>
            <a:off x="4645152" y="1234440"/>
            <a:ext cx="1783080" cy="28803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02" name="Rect"/>
          <p:cNvSpPr/>
          <p:nvPr/>
        </p:nvSpPr>
        <p:spPr>
          <a:xfrm>
            <a:off x="4645152" y="1234440"/>
            <a:ext cx="17830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TextBox"/>
          <p:cNvSpPr txBox="1">
            <a:spLocks noGrp="1"/>
          </p:cNvSpPr>
          <p:nvPr/>
        </p:nvSpPr>
        <p:spPr>
          <a:xfrm>
            <a:off x="4754880" y="1271016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Supabase</a:t>
            </a:r>
            <a:endParaRPr lang="en-US" dirty="0"/>
          </a:p>
        </p:txBody>
      </p:sp>
      <p:sp>
        <p:nvSpPr>
          <p:cNvPr id="304" name="TextBox"/>
          <p:cNvSpPr txBox="1">
            <a:spLocks noGrp="1"/>
          </p:cNvSpPr>
          <p:nvPr/>
        </p:nvSpPr>
        <p:spPr>
          <a:xfrm>
            <a:off x="4754880" y="1636776"/>
            <a:ext cx="1563624" cy="2386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PostgreSQL chronological timeline store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Row-Level Security (RLS) multi-tenancy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Built-in Auth for session management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Anon key access from React frontend</a:t>
            </a:r>
            <a:endParaRPr lang="en-US" dirty="0"/>
          </a:p>
        </p:txBody>
      </p:sp>
      <p:sp>
        <p:nvSpPr>
          <p:cNvPr id="305" name="Rect"/>
          <p:cNvSpPr/>
          <p:nvPr/>
        </p:nvSpPr>
        <p:spPr>
          <a:xfrm>
            <a:off x="6574536" y="1234440"/>
            <a:ext cx="1783080" cy="2880360"/>
          </a:xfrm>
          <a:prstGeom prst="rect">
            <a:avLst/>
          </a:prstGeom>
          <a:solidFill>
            <a:srgbClr val="F0F4FA"/>
          </a:solidFill>
          <a:ln w="9525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06" name="Rect"/>
          <p:cNvSpPr/>
          <p:nvPr/>
        </p:nvSpPr>
        <p:spPr>
          <a:xfrm>
            <a:off x="6574536" y="1234440"/>
            <a:ext cx="178308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TextBox"/>
          <p:cNvSpPr txBox="1">
            <a:spLocks noGrp="1"/>
          </p:cNvSpPr>
          <p:nvPr/>
        </p:nvSpPr>
        <p:spPr>
          <a:xfrm>
            <a:off x="6684264" y="1271016"/>
            <a:ext cx="1563624" cy="2743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400" dirty="0" b="1">
                <a:solidFill>
                  <a:srgbClr val="FFFFFF"/>
                </a:solidFill>
                <a:latin typeface="Calibri" pitchFamily="2" charset="0"/>
              </a:rPr>
              <a:t>Deployment &amp; Infra</a:t>
            </a:r>
            <a:endParaRPr lang="en-US" dirty="0"/>
          </a:p>
        </p:txBody>
      </p:sp>
      <p:sp>
        <p:nvSpPr>
          <p:cNvPr id="308" name="TextBox"/>
          <p:cNvSpPr txBox="1">
            <a:spLocks noGrp="1"/>
          </p:cNvSpPr>
          <p:nvPr/>
        </p:nvSpPr>
        <p:spPr>
          <a:xfrm>
            <a:off x="6684264" y="1636776"/>
            <a:ext cx="1563624" cy="2386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Hugging Face Spaces — primary hosting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Render — alternate cloud deployment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Docker — unified multi-process container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2" charset="0"/>
              </a:rPr>
              <a:t>LanceDB — local vector storage engine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4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10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9. COST STRUCTURE</a:t>
            </a:r>
            <a:endParaRPr lang="en-US" dirty="0"/>
          </a:p>
        </p:txBody>
      </p:sp>
      <p:sp>
        <p:nvSpPr>
          <p:cNvPr id="314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Lean AI-native architecture with managed infrastructure</a:t>
            </a:r>
            <a:endParaRPr lang="en-US" dirty="0"/>
          </a:p>
        </p:txBody>
      </p:sp>
      <p:sp>
        <p:nvSpPr>
          <p:cNvPr id="316" name="TextBox"/>
          <p:cNvSpPr txBox="1">
            <a:spLocks noGrp="1"/>
          </p:cNvSpPr>
          <p:nvPr/>
        </p:nvSpPr>
        <p:spPr>
          <a:xfrm>
            <a:off x="457200" y="1280160"/>
            <a:ext cx="1645920" cy="5029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150" dirty="0" b="1">
                <a:solidFill>
                  <a:srgbClr val="002060"/>
                </a:solidFill>
                <a:latin typeface="Calibri" pitchFamily="2" charset="0"/>
              </a:rPr>
              <a:t>Cognee Cloud API</a:t>
            </a:r>
            <a:endParaRPr lang="en-US" dirty="0"/>
          </a:p>
        </p:txBody>
      </p:sp>
      <p:sp>
        <p:nvSpPr>
          <p:cNvPr id="317" name="Rect"/>
          <p:cNvSpPr/>
          <p:nvPr/>
        </p:nvSpPr>
        <p:spPr>
          <a:xfrm>
            <a:off x="2240280" y="1371600"/>
            <a:ext cx="3511296" cy="3383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TextBox"/>
          <p:cNvSpPr txBox="1">
            <a:spLocks noGrp="1"/>
          </p:cNvSpPr>
          <p:nvPr/>
        </p:nvSpPr>
        <p:spPr>
          <a:xfrm>
            <a:off x="2240280" y="1709928"/>
            <a:ext cx="484632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595959"/>
                </a:solidFill>
                <a:latin typeface="Calibri" pitchFamily="2" charset="0"/>
              </a:rPr>
              <a:t>Usage-based per query/ingest beyond free tier</a:t>
            </a:r>
            <a:endParaRPr lang="en-US" dirty="0"/>
          </a:p>
        </p:txBody>
      </p:sp>
      <p:sp>
        <p:nvSpPr>
          <p:cNvPr id="319" name="TextBox"/>
          <p:cNvSpPr txBox="1">
            <a:spLocks noGrp="1"/>
          </p:cNvSpPr>
          <p:nvPr/>
        </p:nvSpPr>
        <p:spPr>
          <a:xfrm>
            <a:off x="457200" y="1892808"/>
            <a:ext cx="1645920" cy="5029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150" dirty="0" b="1">
                <a:solidFill>
                  <a:srgbClr val="002060"/>
                </a:solidFill>
                <a:latin typeface="Calibri" pitchFamily="2" charset="0"/>
              </a:rPr>
              <a:t>LLM &amp; Embedding API</a:t>
            </a:r>
            <a:endParaRPr lang="en-US" dirty="0"/>
          </a:p>
        </p:txBody>
      </p:sp>
      <p:sp>
        <p:nvSpPr>
          <p:cNvPr id="320" name="Rect"/>
          <p:cNvSpPr/>
          <p:nvPr/>
        </p:nvSpPr>
        <p:spPr>
          <a:xfrm>
            <a:off x="2240280" y="1984248"/>
            <a:ext cx="2414016" cy="338328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TextBox"/>
          <p:cNvSpPr txBox="1">
            <a:spLocks noGrp="1"/>
          </p:cNvSpPr>
          <p:nvPr/>
        </p:nvSpPr>
        <p:spPr>
          <a:xfrm>
            <a:off x="2240280" y="2322576"/>
            <a:ext cx="484632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595959"/>
                </a:solidFill>
                <a:latin typeface="Calibri" pitchFamily="2" charset="0"/>
              </a:rPr>
              <a:t>Gemini Flash Lite — among lowest cost LLMs available</a:t>
            </a:r>
            <a:endParaRPr lang="en-US" dirty="0"/>
          </a:p>
        </p:txBody>
      </p:sp>
      <p:sp>
        <p:nvSpPr>
          <p:cNvPr id="322" name="TextBox"/>
          <p:cNvSpPr txBox="1">
            <a:spLocks noGrp="1"/>
          </p:cNvSpPr>
          <p:nvPr/>
        </p:nvSpPr>
        <p:spPr>
          <a:xfrm>
            <a:off x="457200" y="2505456"/>
            <a:ext cx="1645920" cy="5029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150" dirty="0" b="1">
                <a:solidFill>
                  <a:srgbClr val="002060"/>
                </a:solidFill>
                <a:latin typeface="Calibri" pitchFamily="2" charset="0"/>
              </a:rPr>
              <a:t>Supabase (Database)</a:t>
            </a:r>
            <a:endParaRPr lang="en-US" dirty="0"/>
          </a:p>
        </p:txBody>
      </p:sp>
      <p:sp>
        <p:nvSpPr>
          <p:cNvPr id="323" name="Rect"/>
          <p:cNvSpPr/>
          <p:nvPr/>
        </p:nvSpPr>
        <p:spPr>
          <a:xfrm>
            <a:off x="2240280" y="2596896"/>
            <a:ext cx="1536192" cy="3383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TextBox"/>
          <p:cNvSpPr txBox="1">
            <a:spLocks noGrp="1"/>
          </p:cNvSpPr>
          <p:nvPr/>
        </p:nvSpPr>
        <p:spPr>
          <a:xfrm>
            <a:off x="2240280" y="2935224"/>
            <a:ext cx="484632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595959"/>
                </a:solidFill>
                <a:latin typeface="Calibri" pitchFamily="2" charset="0"/>
              </a:rPr>
              <a:t>Free tier covers early users; Pro ~$25/mo at scale</a:t>
            </a:r>
            <a:endParaRPr lang="en-US" dirty="0"/>
          </a:p>
        </p:txBody>
      </p:sp>
      <p:sp>
        <p:nvSpPr>
          <p:cNvPr id="325" name="TextBox"/>
          <p:cNvSpPr txBox="1">
            <a:spLocks noGrp="1"/>
          </p:cNvSpPr>
          <p:nvPr/>
        </p:nvSpPr>
        <p:spPr>
          <a:xfrm>
            <a:off x="457200" y="3118104"/>
            <a:ext cx="1645920" cy="5029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150" dirty="0" b="1">
                <a:solidFill>
                  <a:srgbClr val="002060"/>
                </a:solidFill>
                <a:latin typeface="Calibri" pitchFamily="2" charset="0"/>
              </a:rPr>
              <a:t>Hosting (HF / Render)</a:t>
            </a:r>
            <a:endParaRPr lang="en-US" dirty="0"/>
          </a:p>
        </p:txBody>
      </p:sp>
      <p:sp>
        <p:nvSpPr>
          <p:cNvPr id="326" name="Rect"/>
          <p:cNvSpPr/>
          <p:nvPr/>
        </p:nvSpPr>
        <p:spPr>
          <a:xfrm>
            <a:off x="2240280" y="3209544"/>
            <a:ext cx="877824" cy="3383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TextBox"/>
          <p:cNvSpPr txBox="1">
            <a:spLocks noGrp="1"/>
          </p:cNvSpPr>
          <p:nvPr/>
        </p:nvSpPr>
        <p:spPr>
          <a:xfrm>
            <a:off x="2240280" y="3547872"/>
            <a:ext cx="484632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595959"/>
                </a:solidFill>
                <a:latin typeface="Calibri" pitchFamily="2" charset="0"/>
              </a:rPr>
              <a:t>Free tier on Hugging Face Spaces; Render ~$7/mo</a:t>
            </a:r>
            <a:endParaRPr lang="en-US" dirty="0"/>
          </a:p>
        </p:txBody>
      </p:sp>
      <p:sp>
        <p:nvSpPr>
          <p:cNvPr id="328" name="TextBox"/>
          <p:cNvSpPr txBox="1">
            <a:spLocks noGrp="1"/>
          </p:cNvSpPr>
          <p:nvPr/>
        </p:nvSpPr>
        <p:spPr>
          <a:xfrm>
            <a:off x="457200" y="3730752"/>
            <a:ext cx="1645920" cy="5029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r"/>
            <a:r>
              <a:rPr lang="en-US" sz="1150" dirty="0" b="1">
                <a:solidFill>
                  <a:srgbClr val="002060"/>
                </a:solidFill>
                <a:latin typeface="Calibri" pitchFamily="2" charset="0"/>
              </a:rPr>
              <a:t>Development &amp; DevOps</a:t>
            </a:r>
            <a:endParaRPr lang="en-US" dirty="0"/>
          </a:p>
        </p:txBody>
      </p:sp>
      <p:sp>
        <p:nvSpPr>
          <p:cNvPr id="329" name="Rect"/>
          <p:cNvSpPr/>
          <p:nvPr/>
        </p:nvSpPr>
        <p:spPr>
          <a:xfrm>
            <a:off x="2240280" y="3822192"/>
            <a:ext cx="438912" cy="3383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TextBox"/>
          <p:cNvSpPr txBox="1">
            <a:spLocks noGrp="1"/>
          </p:cNvSpPr>
          <p:nvPr/>
        </p:nvSpPr>
        <p:spPr>
          <a:xfrm>
            <a:off x="2240280" y="4160520"/>
            <a:ext cx="484632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050" dirty="0">
                <a:solidFill>
                  <a:srgbClr val="595959"/>
                </a:solidFill>
                <a:latin typeface="Calibri" pitchFamily="2" charset="0"/>
              </a:rPr>
              <a:t>Open source toolchain; minimal licensing costs</a:t>
            </a:r>
            <a:endParaRPr lang="en-US" dirty="0"/>
          </a:p>
        </p:txBody>
      </p:sp>
      <p:sp>
        <p:nvSpPr>
          <p:cNvPr id="331" name="Rect"/>
          <p:cNvSpPr/>
          <p:nvPr/>
        </p:nvSpPr>
        <p:spPr>
          <a:xfrm>
            <a:off x="6858000" y="1234440"/>
            <a:ext cx="1828800" cy="310896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2" name="TextBox"/>
          <p:cNvSpPr txBox="1">
            <a:spLocks noGrp="1"/>
          </p:cNvSpPr>
          <p:nvPr/>
        </p:nvSpPr>
        <p:spPr>
          <a:xfrm>
            <a:off x="6949440" y="1371600"/>
            <a:ext cx="1645920" cy="28346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500" dirty="0" b="1">
                <a:solidFill>
                  <a:srgbClr val="FFFFFF"/>
                </a:solidFill>
                <a:latin typeface="Cambria" pitchFamily="2" charset="0"/>
              </a:rPr>
              <a:t>Cost Model</a:t>
            </a:r>
            <a:endParaRPr lang="en-US" dirty="0"/>
          </a:p>
          <a:p>
            <a:pPr/>
            <a:r>
              <a:rPr lang="en-US" sz="800" dirty="0">
                <a:solidFill>
                  <a:srgbClr val="FFFFFF"/>
                </a:solidFill>
                <a:latin typeface="Calibri" pitchFamily="2" charset="0"/>
              </a:rPr>
              <a:t/>
            </a:r>
            <a:endParaRPr lang="en-US" dirty="0"/>
          </a:p>
          <a:p>
            <a:pPr algn="ctr"/>
            <a:r>
              <a:rPr lang="en-US" sz="3200" dirty="0" b="1">
                <a:solidFill>
                  <a:srgbClr val="FFC000"/>
                </a:solidFill>
                <a:latin typeface="Cambria" pitchFamily="2" charset="0"/>
              </a:rPr>
              <a:t>~$0</a:t>
            </a:r>
            <a:endParaRPr lang="en-US" dirty="0"/>
          </a:p>
          <a:p>
            <a:pPr algn="ctr"/>
            <a:r>
              <a:rPr lang="en-US" sz="1050" dirty="0">
                <a:solidFill>
                  <a:srgbClr val="CADCFC"/>
                </a:solidFill>
                <a:latin typeface="Calibri" pitchFamily="2" charset="0"/>
              </a:rPr>
              <a:t>bootstrapped MVP cost</a:t>
            </a:r>
            <a:endParaRPr lang="en-US" dirty="0"/>
          </a:p>
          <a:p>
            <a:pPr/>
            <a:r>
              <a:rPr lang="en-US" sz="800" dirty="0">
                <a:solidFill>
                  <a:srgbClr val="FFFFFF"/>
                </a:solidFill>
                <a:latin typeface="Calibri" pitchFamily="2" charset="0"/>
              </a:rPr>
              <a:t/>
            </a:r>
            <a:endParaRPr lang="en-US" dirty="0"/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Calibri" pitchFamily="2" charset="0"/>
              </a:rPr>
              <a:t>Variable cost scales</a:t>
            </a:r>
            <a:endParaRPr lang="en-US" dirty="0"/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Calibri" pitchFamily="2" charset="0"/>
              </a:rPr>
              <a:t>with user growth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4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34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Rect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TextBox"/>
          <p:cNvSpPr txBox="1">
            <a:spLocks noGrp="1"/>
          </p:cNvSpPr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3200" dirty="0" b="1">
                <a:solidFill>
                  <a:srgbClr val="FFFFFF"/>
                </a:solidFill>
                <a:latin typeface="Cambria" pitchFamily="2" charset="0"/>
              </a:rPr>
              <a:t>WHY DÉJÀ WINS — BEST USE OF COGNEE</a:t>
            </a:r>
            <a:endParaRPr lang="en-US" dirty="0"/>
          </a:p>
        </p:txBody>
      </p:sp>
      <p:sp>
        <p:nvSpPr>
          <p:cNvPr id="338" name="Rect"/>
          <p:cNvSpPr/>
          <p:nvPr/>
        </p:nvSpPr>
        <p:spPr>
          <a:xfrm>
            <a:off x="8823960" y="384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TextBox"/>
          <p:cNvSpPr txBox="1">
            <a:spLocks noGrp="1"/>
          </p:cNvSpPr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/>
            <a:r>
              <a:rPr lang="en-US" sz="1100" dirty="0">
                <a:solidFill>
                  <a:srgbClr val="595959"/>
                </a:solidFill>
                <a:latin typeface="Calibri" pitchFamily="2" charset="0"/>
              </a:rPr>
              <a:t>Demonstrating the full power of Cognee in a real-world production system</a:t>
            </a:r>
            <a:endParaRPr lang="en-US" dirty="0"/>
          </a:p>
        </p:txBody>
      </p:sp>
      <p:sp>
        <p:nvSpPr>
          <p:cNvPr id="340" name="Rect"/>
          <p:cNvSpPr/>
          <p:nvPr/>
        </p:nvSpPr>
        <p:spPr>
          <a:xfrm>
            <a:off x="457200" y="1280160"/>
            <a:ext cx="73152" cy="749808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" name="Rect"/>
          <p:cNvSpPr/>
          <p:nvPr/>
        </p:nvSpPr>
        <p:spPr>
          <a:xfrm>
            <a:off x="548640" y="1280160"/>
            <a:ext cx="7406639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42" name="TextBox"/>
          <p:cNvSpPr txBox="1">
            <a:spLocks noGrp="1"/>
          </p:cNvSpPr>
          <p:nvPr/>
        </p:nvSpPr>
        <p:spPr>
          <a:xfrm>
            <a:off x="685800" y="1335024"/>
            <a:ext cx="7178039" cy="6583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 b="1">
                <a:solidFill>
                  <a:srgbClr val="002060"/>
                </a:solidFill>
                <a:latin typeface="Cambria" pitchFamily="2" charset="0"/>
              </a:rPr>
              <a:t>1. Dual Local + Cloud Architecture</a:t>
            </a:r>
            <a:endParaRPr lang="en-US" dirty="0"/>
          </a:p>
          <a:p>
            <a:pPr/>
            <a:r>
              <a:rPr lang="en-US" sz="1150" dirty="0">
                <a:solidFill>
                  <a:srgbClr val="333333"/>
                </a:solidFill>
                <a:latin typeface="Calibri" pitchFamily="2" charset="0"/>
              </a:rPr>
              <a:t>First app to seamlessly switch between Cognee Open Source (SQLite/LanceDB) and Cognee Cloud — proving the SDK's full versatility.</a:t>
            </a:r>
            <a:endParaRPr lang="en-US" dirty="0"/>
          </a:p>
        </p:txBody>
      </p:sp>
      <p:sp>
        <p:nvSpPr>
          <p:cNvPr id="343" name="Rect"/>
          <p:cNvSpPr/>
          <p:nvPr/>
        </p:nvSpPr>
        <p:spPr>
          <a:xfrm>
            <a:off x="457200" y="2167128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" name="Rect"/>
          <p:cNvSpPr/>
          <p:nvPr/>
        </p:nvSpPr>
        <p:spPr>
          <a:xfrm>
            <a:off x="548640" y="2167128"/>
            <a:ext cx="7406639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45" name="TextBox"/>
          <p:cNvSpPr txBox="1">
            <a:spLocks noGrp="1"/>
          </p:cNvSpPr>
          <p:nvPr/>
        </p:nvSpPr>
        <p:spPr>
          <a:xfrm>
            <a:off x="685800" y="2221992"/>
            <a:ext cx="7178039" cy="6583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 b="1">
                <a:solidFill>
                  <a:srgbClr val="002060"/>
                </a:solidFill>
                <a:latin typeface="Cambria" pitchFamily="2" charset="0"/>
              </a:rPr>
              <a:t>2. Auth0 Device Flow Integration</a:t>
            </a:r>
            <a:endParaRPr lang="en-US" dirty="0"/>
          </a:p>
          <a:p>
            <a:pPr/>
            <a:r>
              <a:rPr lang="en-US" sz="1150" dirty="0">
                <a:solidFill>
                  <a:srgbClr val="333333"/>
                </a:solidFill>
                <a:latin typeface="Calibri" pitchFamily="2" charset="0"/>
              </a:rPr>
              <a:t>Extended Cognee's ecosystem with an automated onboarding script (auth_cognee.py) using Cognee's device code flow — zero user friction.</a:t>
            </a:r>
            <a:endParaRPr lang="en-US" dirty="0"/>
          </a:p>
        </p:txBody>
      </p:sp>
      <p:sp>
        <p:nvSpPr>
          <p:cNvPr id="346" name="Rect"/>
          <p:cNvSpPr/>
          <p:nvPr/>
        </p:nvSpPr>
        <p:spPr>
          <a:xfrm>
            <a:off x="457200" y="3054096"/>
            <a:ext cx="73152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ect"/>
          <p:cNvSpPr/>
          <p:nvPr/>
        </p:nvSpPr>
        <p:spPr>
          <a:xfrm>
            <a:off x="548640" y="3054096"/>
            <a:ext cx="7406639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48" name="TextBox"/>
          <p:cNvSpPr txBox="1">
            <a:spLocks noGrp="1"/>
          </p:cNvSpPr>
          <p:nvPr/>
        </p:nvSpPr>
        <p:spPr>
          <a:xfrm>
            <a:off x="685800" y="3108960"/>
            <a:ext cx="7178039" cy="6583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 b="1">
                <a:solidFill>
                  <a:srgbClr val="002060"/>
                </a:solidFill>
                <a:latin typeface="Cambria" pitchFamily="2" charset="0"/>
              </a:rPr>
              <a:t>3. Graph-Timeline Comparison Engine</a:t>
            </a:r>
            <a:endParaRPr lang="en-US" dirty="0"/>
          </a:p>
          <a:p>
            <a:pPr/>
            <a:r>
              <a:rPr lang="en-US" sz="1150" dirty="0">
                <a:solidFill>
                  <a:srgbClr val="333333"/>
                </a:solidFill>
                <a:latin typeface="Calibri" pitchFamily="2" charset="0"/>
              </a:rPr>
              <a:t>Blindspots cross-references Supabase's relational timeline against Cognee's structural node density — a novel use of graph topology for personal insight.</a:t>
            </a:r>
            <a:endParaRPr lang="en-US" dirty="0"/>
          </a:p>
        </p:txBody>
      </p:sp>
      <p:sp>
        <p:nvSpPr>
          <p:cNvPr id="349" name="Rect"/>
          <p:cNvSpPr/>
          <p:nvPr/>
        </p:nvSpPr>
        <p:spPr>
          <a:xfrm>
            <a:off x="457200" y="3941064"/>
            <a:ext cx="73152" cy="7498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" name="Rect"/>
          <p:cNvSpPr/>
          <p:nvPr/>
        </p:nvSpPr>
        <p:spPr>
          <a:xfrm>
            <a:off x="548640" y="3941064"/>
            <a:ext cx="7406639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C5D5EA"/>
            </a:solidFill>
          </a:ln>
        </p:spPr>
        <p:txBody>
          <a:bodyPr/>
          <a:lstStyle/>
          <a:p/>
        </p:txBody>
      </p:sp>
      <p:sp>
        <p:nvSpPr>
          <p:cNvPr id="351" name="TextBox"/>
          <p:cNvSpPr txBox="1">
            <a:spLocks noGrp="1"/>
          </p:cNvSpPr>
          <p:nvPr/>
        </p:nvSpPr>
        <p:spPr>
          <a:xfrm>
            <a:off x="685800" y="3995928"/>
            <a:ext cx="7178039" cy="6583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/>
            <a:r>
              <a:rPr lang="en-US" sz="1300" dirty="0" b="1">
                <a:solidFill>
                  <a:srgbClr val="002060"/>
                </a:solidFill>
                <a:latin typeface="Cambria" pitchFamily="2" charset="0"/>
              </a:rPr>
              <a:t>4. Production Concurrency Solutions</a:t>
            </a:r>
            <a:endParaRPr lang="en-US" dirty="0"/>
          </a:p>
          <a:p>
            <a:pPr/>
            <a:r>
              <a:rPr lang="en-US" sz="1150" dirty="0">
                <a:solidFill>
                  <a:srgbClr val="333333"/>
                </a:solidFill>
                <a:latin typeface="Calibri" pitchFamily="2" charset="0"/>
              </a:rPr>
              <a:t>Solved SQLite write-lock contention via serialized async queue — a real enterprise-grade fix that makes Cognee viable under concurrent load.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9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showMasterSp="0"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2"/>
          <p:cNvSpPr>
            <a:spLocks noGrp="1"/>
          </p:cNvSpPr>
          <p:nvPr>
            <p:ph type="title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" name="ph_3"/>
          <p:cNvSpPr>
            <a:spLocks noGrp="1"/>
          </p:cNvSpPr>
          <p:nvPr>
            <p:ph idx="1"/>
          </p:nvPr>
        </p:nvSpPr>
        <p:spPr>
          <a:xfrm>
            <a:off x="-9144000" y="-5143500"/>
            <a:ext cx="100" cy="100"/>
          </a:xfrm>
        </p:spPr>
        <p:txBody>
          <a:bodyPr/>
          <a:lstStyle/>
          <a:p/>
        </p:txBody>
      </p:sp>
      <p:sp>
        <p:nvSpPr>
          <p:cNvPr id="353" name="Rec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" name="Rect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TextBox"/>
          <p:cNvSpPr txBox="1">
            <a:spLocks noGrp="1"/>
          </p:cNvSpPr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6000" dirty="0" b="1">
                <a:solidFill>
                  <a:srgbClr val="FFFFFF"/>
                </a:solidFill>
                <a:latin typeface="Cambria" pitchFamily="2" charset="0"/>
              </a:rPr>
              <a:t>Thank You</a:t>
            </a:r>
            <a:endParaRPr lang="en-US" dirty="0"/>
          </a:p>
        </p:txBody>
      </p:sp>
      <p:sp>
        <p:nvSpPr>
          <p:cNvPr id="356" name="TextBox"/>
          <p:cNvSpPr txBox="1">
            <a:spLocks noGrp="1"/>
          </p:cNvSpPr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2" charset="0"/>
              </a:rPr>
              <a:t>Déjà — Cognee-Powered Memory Recovery Engine</a:t>
            </a:r>
            <a:endParaRPr lang="en-US" dirty="0"/>
          </a:p>
        </p:txBody>
      </p:sp>
      <p:sp>
        <p:nvSpPr>
          <p:cNvPr id="357" name="Rect"/>
          <p:cNvSpPr/>
          <p:nvPr/>
        </p:nvSpPr>
        <p:spPr>
          <a:xfrm>
            <a:off x="891540" y="2377440"/>
            <a:ext cx="233172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" name="TextBox"/>
          <p:cNvSpPr txBox="1">
            <a:spLocks noGrp="1"/>
          </p:cNvSpPr>
          <p:nvPr/>
        </p:nvSpPr>
        <p:spPr>
          <a:xfrm>
            <a:off x="891540" y="2468880"/>
            <a:ext cx="2331720" cy="10972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Cambria" pitchFamily="2" charset="0"/>
              </a:rPr>
              <a:t>🧠 Semantic Memory</a:t>
            </a:r>
            <a:endParaRPr lang="en-US" dirty="0"/>
          </a:p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2" charset="0"/>
              </a:rPr>
              <a:t>Personal AI memory graph
powered by Cognee</a:t>
            </a:r>
            <a:endParaRPr lang="en-US" dirty="0"/>
          </a:p>
        </p:txBody>
      </p:sp>
      <p:sp>
        <p:nvSpPr>
          <p:cNvPr id="359" name="Rect"/>
          <p:cNvSpPr/>
          <p:nvPr/>
        </p:nvSpPr>
        <p:spPr>
          <a:xfrm>
            <a:off x="3406140" y="2377440"/>
            <a:ext cx="2331720" cy="118872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" name="TextBox"/>
          <p:cNvSpPr txBox="1">
            <a:spLocks noGrp="1"/>
          </p:cNvSpPr>
          <p:nvPr/>
        </p:nvSpPr>
        <p:spPr>
          <a:xfrm>
            <a:off x="3406140" y="2468880"/>
            <a:ext cx="2331720" cy="10972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Cambria" pitchFamily="2" charset="0"/>
              </a:rPr>
              <a:t>🔮 Natural Language</a:t>
            </a:r>
            <a:endParaRPr lang="en-US" dirty="0"/>
          </a:p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2" charset="0"/>
              </a:rPr>
              <a:t>Ask anything about
your past in plain English</a:t>
            </a:r>
            <a:endParaRPr lang="en-US" dirty="0"/>
          </a:p>
        </p:txBody>
      </p:sp>
      <p:sp>
        <p:nvSpPr>
          <p:cNvPr id="361" name="Rect"/>
          <p:cNvSpPr/>
          <p:nvPr/>
        </p:nvSpPr>
        <p:spPr>
          <a:xfrm>
            <a:off x="5920740" y="2377440"/>
            <a:ext cx="233172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" name="TextBox"/>
          <p:cNvSpPr txBox="1">
            <a:spLocks noGrp="1"/>
          </p:cNvSpPr>
          <p:nvPr/>
        </p:nvSpPr>
        <p:spPr>
          <a:xfrm>
            <a:off x="5920740" y="2468880"/>
            <a:ext cx="2331720" cy="10972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Cambria" pitchFamily="2" charset="0"/>
              </a:rPr>
              <a:t>🔒 Privacy First</a:t>
            </a:r>
            <a:endParaRPr lang="en-US" dirty="0"/>
          </a:p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2" charset="0"/>
              </a:rPr>
              <a:t>Local + Cloud modes;
right to be forgotten</a:t>
            </a:r>
            <a:endParaRPr lang="en-US" dirty="0"/>
          </a:p>
        </p:txBody>
      </p:sp>
      <p:sp>
        <p:nvSpPr>
          <p:cNvPr id="363" name="TextBox"/>
          <p:cNvSpPr txBox="1">
            <a:spLocks noGrp="1"/>
          </p:cNvSpPr>
          <p:nvPr/>
        </p:nvSpPr>
        <p:spPr>
          <a:xfrm>
            <a:off x="457200" y="3749039"/>
            <a:ext cx="822960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dirty="0">
                <a:solidFill>
                  <a:srgbClr val="CADCFC"/>
                </a:solidFill>
                <a:latin typeface="Calibri" pitchFamily="2" charset="0"/>
              </a:rPr>
              <a:t>GitHub · Hugging Face Spaces · CMR ThinkFest 3.0 — Team Déjà</a:t>
            </a:r>
            <a:endParaRPr lang="en-US" dirty="0"/>
          </a:p>
          <a:p>
            <a:pPr algn="ctr"/>
            <a:r>
              <a:rPr lang="en-US" sz="1000" dirty="0">
                <a:solidFill>
                  <a:srgbClr val="FFC000"/>
                </a:solidFill>
                <a:latin typeface="Calibri" pitchFamily="2" charset="0"/>
              </a:rPr>
              <a:t>SDG 3: Good Health &amp; Well-Being  |  SDG 9: Industry, Innovation &amp;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42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9000B0E-F247-42DE-B4C8-953FA55828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30</TotalTime>
  <Words>508</Words>
  <Application>Microsoft Office PowerPoint</Application>
  <PresentationFormat>On-screen Show (16:9)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Constantia</vt:lpstr>
      <vt:lpstr>Times New Roman</vt:lpstr>
      <vt:lpstr>Tw Cen MT</vt:lpstr>
      <vt:lpstr>Wingdings</vt:lpstr>
      <vt:lpstr>Wingdings 2</vt:lpstr>
      <vt:lpstr>Median</vt:lpstr>
      <vt:lpstr>TITLE OF THE PROJECT</vt:lpstr>
      <vt:lpstr>PROBLEM STATEMET</vt:lpstr>
      <vt:lpstr>1. Customer Segments</vt:lpstr>
      <vt:lpstr>2. Value Proposition</vt:lpstr>
      <vt:lpstr>7. Key Activities</vt:lpstr>
      <vt:lpstr>4. Customer Relationships</vt:lpstr>
      <vt:lpstr>5. Revenue Streams</vt:lpstr>
      <vt:lpstr>6. Key Resources</vt:lpstr>
      <vt:lpstr>7. Key Activities</vt:lpstr>
      <vt:lpstr>8. Key Partners</vt:lpstr>
      <vt:lpstr>9. Cost Structure</vt:lpstr>
      <vt:lpstr>9. Cost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Emmanuel Ministries</dc:creator>
  <cp:lastModifiedBy>Suersh Ram Bethapudi</cp:lastModifiedBy>
  <cp:revision>8</cp:revision>
  <dcterms:created xsi:type="dcterms:W3CDTF">2018-04-19T17:20:36Z</dcterms:created>
  <dcterms:modified xsi:type="dcterms:W3CDTF">2026-06-30T04:50:17Z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TC101671259990</vt:lpwstr>
  </property>
</Properties>
</file>